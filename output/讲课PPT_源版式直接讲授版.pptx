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3ba4311cdf4689" /><Relationship Type="http://schemas.openxmlformats.org/officeDocument/2006/relationships/extended-properties" Target="/docProps/app.xml" Id="Rc542c7cfc2f342e2" /><Relationship Type="http://schemas.openxmlformats.org/officeDocument/2006/relationships/officeDocument" Target="/ppt/presentation.xml" Id="R173513537d4a4e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8ee1eaf88e43e1"/>
    <p:sldMasterId xmlns:r="http://schemas.openxmlformats.org/officeDocument/2006/relationships" id="2147483660" r:id="R3e877851b2b34fb0"/>
  </p:sldMasterIdLst>
  <p:notesMasterIdLst>
    <p:notesMasterId xmlns:r="http://schemas.openxmlformats.org/officeDocument/2006/relationships" r:id="R9641febf2f9e4e7e"/>
  </p:notesMasterIdLst>
  <p:sldIdLst>
    <p:sldId xmlns:r="http://schemas.openxmlformats.org/officeDocument/2006/relationships" id="256" r:id="Ra16f3bdf66864140"/>
    <p:sldId xmlns:r="http://schemas.openxmlformats.org/officeDocument/2006/relationships" id="257" r:id="R01c94012a3cb41f4"/>
    <p:sldId xmlns:r="http://schemas.openxmlformats.org/officeDocument/2006/relationships" id="258" r:id="R3aec80e3eb3c475a"/>
    <p:sldId xmlns:r="http://schemas.openxmlformats.org/officeDocument/2006/relationships" id="259" r:id="Rb1fc9659689e4bde"/>
    <p:sldId xmlns:r="http://schemas.openxmlformats.org/officeDocument/2006/relationships" id="260" r:id="Re401052d92a44c1a"/>
    <p:sldId xmlns:r="http://schemas.openxmlformats.org/officeDocument/2006/relationships" id="261" r:id="R10c1e4db558e4284"/>
    <p:sldId xmlns:r="http://schemas.openxmlformats.org/officeDocument/2006/relationships" id="262" r:id="Rd3cc3c46242a4a61"/>
    <p:sldId xmlns:r="http://schemas.openxmlformats.org/officeDocument/2006/relationships" id="263" r:id="R6e3de2e0a0374255"/>
    <p:sldId xmlns:r="http://schemas.openxmlformats.org/officeDocument/2006/relationships" id="264" r:id="R5d2d04390cc04a03"/>
    <p:sldId xmlns:r="http://schemas.openxmlformats.org/officeDocument/2006/relationships" id="265" r:id="Re15ec719bd354704"/>
    <p:sldId xmlns:r="http://schemas.openxmlformats.org/officeDocument/2006/relationships" id="266" r:id="R385837490d5b4094"/>
    <p:sldId xmlns:r="http://schemas.openxmlformats.org/officeDocument/2006/relationships" id="267" r:id="R0d74494121104f90"/>
    <p:sldId xmlns:r="http://schemas.openxmlformats.org/officeDocument/2006/relationships" id="268" r:id="Rba8fa467e1c94fb9"/>
    <p:sldId xmlns:r="http://schemas.openxmlformats.org/officeDocument/2006/relationships" id="269" r:id="R56417538252d477e"/>
    <p:sldId xmlns:r="http://schemas.openxmlformats.org/officeDocument/2006/relationships" id="270" r:id="Rc4383e2be71b4b14"/>
    <p:sldId xmlns:r="http://schemas.openxmlformats.org/officeDocument/2006/relationships" id="271" r:id="R138a9e748ecd46e4"/>
    <p:sldId xmlns:r="http://schemas.openxmlformats.org/officeDocument/2006/relationships" id="272" r:id="Rf65555fb6e35405b"/>
    <p:sldId xmlns:r="http://schemas.openxmlformats.org/officeDocument/2006/relationships" id="273" r:id="R49c9c37f79e94848"/>
    <p:sldId xmlns:r="http://schemas.openxmlformats.org/officeDocument/2006/relationships" id="274" r:id="R96bb7fe9be074ec2"/>
    <p:sldId xmlns:r="http://schemas.openxmlformats.org/officeDocument/2006/relationships" id="275" r:id="R326dab5087b0417b"/>
    <p:sldId xmlns:r="http://schemas.openxmlformats.org/officeDocument/2006/relationships" id="276" r:id="Ra6ba5c9f042b4cf0"/>
    <p:sldId xmlns:r="http://schemas.openxmlformats.org/officeDocument/2006/relationships" id="277" r:id="Rc74d9ed5a4d64fda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L="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L="457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L="914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L="1371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L="18288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L="22860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L="2743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L="3200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L="3657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7065f3c0824669" /><Relationship Type="http://schemas.openxmlformats.org/officeDocument/2006/relationships/slideMaster" Target="/ppt/slideMasters/slideMaster1.xml" Id="R508ee1eaf88e43e1" /><Relationship Type="http://schemas.openxmlformats.org/officeDocument/2006/relationships/slideMaster" Target="/ppt/slideMasters/slideMaster2.xml" Id="R3e877851b2b34fb0" /><Relationship Type="http://schemas.openxmlformats.org/officeDocument/2006/relationships/notesMaster" Target="/ppt/notesMasters/notesMaster1.xml" Id="R9641febf2f9e4e7e" /><Relationship Type="http://schemas.openxmlformats.org/officeDocument/2006/relationships/presProps" Target="/ppt/presProps.xml" Id="Rfdee77922cfb4c17" /><Relationship Type="http://schemas.openxmlformats.org/officeDocument/2006/relationships/viewProps" Target="/ppt/viewProps.xml" Id="R924bf37cf5c145f9" /><Relationship Type="http://schemas.openxmlformats.org/officeDocument/2006/relationships/tableStyles" Target="/ppt/tableStyles.xml" Id="R0e5a157134ac487b" /><Relationship Type="http://schemas.openxmlformats.org/officeDocument/2006/relationships/slide" Target="/ppt/slides/slide1.xml" Id="Ra16f3bdf66864140" /><Relationship Type="http://schemas.openxmlformats.org/officeDocument/2006/relationships/slide" Target="/ppt/slides/slide2.xml" Id="R01c94012a3cb41f4" /><Relationship Type="http://schemas.openxmlformats.org/officeDocument/2006/relationships/slide" Target="/ppt/slides/slide3.xml" Id="R3aec80e3eb3c475a" /><Relationship Type="http://schemas.openxmlformats.org/officeDocument/2006/relationships/slide" Target="/ppt/slides/slide4.xml" Id="Rb1fc9659689e4bde" /><Relationship Type="http://schemas.openxmlformats.org/officeDocument/2006/relationships/slide" Target="/ppt/slides/slide5.xml" Id="Re401052d92a44c1a" /><Relationship Type="http://schemas.openxmlformats.org/officeDocument/2006/relationships/slide" Target="/ppt/slides/slide6.xml" Id="R10c1e4db558e4284" /><Relationship Type="http://schemas.openxmlformats.org/officeDocument/2006/relationships/slide" Target="/ppt/slides/slide7.xml" Id="Rd3cc3c46242a4a61" /><Relationship Type="http://schemas.openxmlformats.org/officeDocument/2006/relationships/slide" Target="/ppt/slides/slide8.xml" Id="R6e3de2e0a0374255" /><Relationship Type="http://schemas.openxmlformats.org/officeDocument/2006/relationships/slide" Target="/ppt/slides/slide9.xml" Id="R5d2d04390cc04a03" /><Relationship Type="http://schemas.openxmlformats.org/officeDocument/2006/relationships/slide" Target="/ppt/slides/slide10.xml" Id="Re15ec719bd354704" /><Relationship Type="http://schemas.openxmlformats.org/officeDocument/2006/relationships/slide" Target="/ppt/slides/slide11.xml" Id="R385837490d5b4094" /><Relationship Type="http://schemas.openxmlformats.org/officeDocument/2006/relationships/slide" Target="/ppt/slides/slide12.xml" Id="R0d74494121104f90" /><Relationship Type="http://schemas.openxmlformats.org/officeDocument/2006/relationships/slide" Target="/ppt/slides/slide13.xml" Id="Rba8fa467e1c94fb9" /><Relationship Type="http://schemas.openxmlformats.org/officeDocument/2006/relationships/slide" Target="/ppt/slides/slide14.xml" Id="R56417538252d477e" /><Relationship Type="http://schemas.openxmlformats.org/officeDocument/2006/relationships/slide" Target="/ppt/slides/slide15.xml" Id="Rc4383e2be71b4b14" /><Relationship Type="http://schemas.openxmlformats.org/officeDocument/2006/relationships/slide" Target="/ppt/slides/slide16.xml" Id="R138a9e748ecd46e4" /><Relationship Type="http://schemas.openxmlformats.org/officeDocument/2006/relationships/slide" Target="/ppt/slides/slide17.xml" Id="Rf65555fb6e35405b" /><Relationship Type="http://schemas.openxmlformats.org/officeDocument/2006/relationships/slide" Target="/ppt/slides/slide18.xml" Id="R49c9c37f79e94848" /><Relationship Type="http://schemas.openxmlformats.org/officeDocument/2006/relationships/slide" Target="/ppt/slides/slide19.xml" Id="R96bb7fe9be074ec2" /><Relationship Type="http://schemas.openxmlformats.org/officeDocument/2006/relationships/slide" Target="/ppt/slides/slide20.xml" Id="R326dab5087b0417b" /><Relationship Type="http://schemas.openxmlformats.org/officeDocument/2006/relationships/slide" Target="/ppt/slides/slide21.xml" Id="Ra6ba5c9f042b4cf0" /><Relationship Type="http://schemas.openxmlformats.org/officeDocument/2006/relationships/slide" Target="/ppt/slides/slide22.xml" Id="Rc74d9ed5a4d64f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c1cf9194fbc4c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bd6bd2356842e2" /><Relationship Type="http://schemas.openxmlformats.org/officeDocument/2006/relationships/notesMaster" Target="/ppt/notesMasters/notesMaster1.xml" Id="R66369a2d3ec046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2bfbcc25834647" /><Relationship Type="http://schemas.openxmlformats.org/officeDocument/2006/relationships/notesMaster" Target="/ppt/notesMasters/notesMaster1.xml" Id="R8c51414adb984c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1213a7fd6e4263" /><Relationship Type="http://schemas.openxmlformats.org/officeDocument/2006/relationships/notesMaster" Target="/ppt/notesMasters/notesMaster1.xml" Id="Rf3e68cf138d14b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29df307d4e4c1d" /><Relationship Type="http://schemas.openxmlformats.org/officeDocument/2006/relationships/notesMaster" Target="/ppt/notesMasters/notesMaster1.xml" Id="Rc4410a72707240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04491935774b11" /><Relationship Type="http://schemas.openxmlformats.org/officeDocument/2006/relationships/notesMaster" Target="/ppt/notesMasters/notesMaster1.xml" Id="R0ad0800f98a940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44b817dbca487d" /><Relationship Type="http://schemas.openxmlformats.org/officeDocument/2006/relationships/notesMaster" Target="/ppt/notesMasters/notesMaster1.xml" Id="Re6ea9b4bc2c44c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aa0bc34a104d8f" /><Relationship Type="http://schemas.openxmlformats.org/officeDocument/2006/relationships/notesMaster" Target="/ppt/notesMasters/notesMaster1.xml" Id="R8e4d60ebd54c4e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76723f9cff4449" /><Relationship Type="http://schemas.openxmlformats.org/officeDocument/2006/relationships/notesMaster" Target="/ppt/notesMasters/notesMaster1.xml" Id="R181f5d9c4dd44c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ec635e5d454f3f" /><Relationship Type="http://schemas.openxmlformats.org/officeDocument/2006/relationships/notesMaster" Target="/ppt/notesMasters/notesMaster1.xml" Id="Raf41e7d4bdcd4e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0632db96574ca9" /><Relationship Type="http://schemas.openxmlformats.org/officeDocument/2006/relationships/notesMaster" Target="/ppt/notesMasters/notesMaster1.xml" Id="Rf1e01ff489204f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d89064d2b049c0" /><Relationship Type="http://schemas.openxmlformats.org/officeDocument/2006/relationships/notesMaster" Target="/ppt/notesMasters/notesMaster1.xml" Id="Reb152f5457d44b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7be1dd0edc487d" /><Relationship Type="http://schemas.openxmlformats.org/officeDocument/2006/relationships/notesMaster" Target="/ppt/notesMasters/notesMaster1.xml" Id="R52e8290a866648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1447ff36c748da" /><Relationship Type="http://schemas.openxmlformats.org/officeDocument/2006/relationships/notesMaster" Target="/ppt/notesMasters/notesMaster1.xml" Id="R78e804b6a04c49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76126d31534e6c" /><Relationship Type="http://schemas.openxmlformats.org/officeDocument/2006/relationships/notesMaster" Target="/ppt/notesMasters/notesMaster1.xml" Id="R8bbe477a03ff49e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9a4e3f2688438e" /><Relationship Type="http://schemas.openxmlformats.org/officeDocument/2006/relationships/notesMaster" Target="/ppt/notesMasters/notesMaster1.xml" Id="R3bfec351fb634c8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14c2bc94ccf429b" /><Relationship Type="http://schemas.openxmlformats.org/officeDocument/2006/relationships/notesMaster" Target="/ppt/notesMasters/notesMaster1.xml" Id="R5c1ba25850004e3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d5603ed70574e3a" /><Relationship Type="http://schemas.openxmlformats.org/officeDocument/2006/relationships/notesMaster" Target="/ppt/notesMasters/notesMaster1.xml" Id="R6a7579a40f9446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6955c37688a4ec3" /><Relationship Type="http://schemas.openxmlformats.org/officeDocument/2006/relationships/notesMaster" Target="/ppt/notesMasters/notesMaster1.xml" Id="R3db86185100d44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07b6babf04a4c05" /><Relationship Type="http://schemas.openxmlformats.org/officeDocument/2006/relationships/notesMaster" Target="/ppt/notesMasters/notesMaster1.xml" Id="R377b94b769e34db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69d2388cd524e68" /><Relationship Type="http://schemas.openxmlformats.org/officeDocument/2006/relationships/notesMaster" Target="/ppt/notesMasters/notesMaster1.xml" Id="Rdc9542e2908d4df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5fc53bec41e48c6" /><Relationship Type="http://schemas.openxmlformats.org/officeDocument/2006/relationships/notesMaster" Target="/ppt/notesMasters/notesMaster1.xml" Id="Rf5c24161900a441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0f97f113d234a81" /><Relationship Type="http://schemas.openxmlformats.org/officeDocument/2006/relationships/notesMaster" Target="/ppt/notesMasters/notesMaster1.xml" Id="Rcb1abc43e13d4b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第一讲45分钟，采用直接讲授方式。先说明工程职业与一般工作的区别，再结合尖扎大桥、永安电站案例讲解公众安全、职责链和质量异常处置。第2—3页导入5分钟，第4—5页概念与制度8分钟，第6—8页案例分析14分钟，第9页首要责任5分钟，第10页处置示例10分钟，第11页小结3分钟。无需安排课前阅读、投票或分组活动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本页作为全课目录，由教师用约2分钟说明两讲的逻辑。第一讲从职业性质走向公众安全，第二讲从职业权利和美德走向伦理冲突及责任边界。直接说明课程内容，不检查预习、不要求学生回答。保留原双栏布局和各文本框位置，目录采用深蓝背景，与浅色正文形成清晰区分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用三聚氰胺这一教材引导案例说明，专业知识能够被用于保障安全，也可能被不当使用。随后转向尖扎大桥：事故通常由多个环节失效共同促成，不能简单归因为技术不足或某个人的道德选择。依次讲解技术、组织和专业履职三个分析层面，后续以事故调查报告说明具体事实。本页直接给出分析框架，不留口头回答环节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https://www.mem.gov.cn/xw/zhsgxx/202604/t20260408_599563.shtml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参照教材印刷页110—114，解释职业不只是获得报酬的一份工作。专业训练形成能力，职业共同体建立标准和伦理章程，公共服务赋予职业社会信任。社团自治不意味着不受监管，服务雇主也不排除公共责任。依照源文件三栏顺序逐项讲解，最后辨明职业、行业、产业的侧重点，无需将标题作为课堂问答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教材印刷页112—113介绍典型注册执业制度。依次讲解五个环节的功能：教育建立知识，实践检验能力，考试提供资格评价，注册明确执业范围，继续教育支持持续胜任。具体准入、考试和注册要求因专业、资格类别而异，不能宣称所有工程岗位都必须经过同一套持证程序。原编号列表保留，适用边界在讲述和备注中明确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官方事故调查报告的伤亡口径为13人死亡、3人失联，不应合并成16人死亡。约41%指螺栓承载能力总体下降，不能等同为某项抗拉强度下降。直接原因还涉及分配梁制作安装质量及张拉受力条件。用本页说明材料质量、结构制作、验收和管理共同组成安全防线。右图仅为源课件场景配图，不能作为事故细节的证据。保留原深色背景、红白标题和图片位置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https://www.mem.gov.cn/xw/zhsgxx/202604/t20260408_599563.shtml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https://www.mem.gov.cn/xw/zhsgxx/202604/W020260408816062632654.pdf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沿用源课件四栏，依次讲解采购、施工、监理和设计如何获取证据、履行职责。四栏是便于理解的职责归纳，不替代官方报告中的法律责任认定。下方补充建设管理和行业监管，避免把组织问题都归到个人道德。原课堂讨论区改为总结说明，由教师连续讲解责任链和信息链之间的联系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https://www.mem.gov.cn/xw/zhsgxx/202604/t20260408_599563.shtml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https://www.mem.gov.cn/xw/zhsgxx/202604/W020260408816062632654.pdf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官方核查对质量问题作了确认，也界定了风险范围：大坝主体尚未开工，相关边坡问题在极端工况下可能导致局部塌方和道路受阻，不会影响大坝。原课件的70%和不足2米属于媒体层面的叙述，主页面不混写为官方认定。用本案例讲明事实、风险推断和损害后果的区别。质量问题严重程度不能靠夸大后果来增强。保留源文件的两栏结构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https://fjb.nea.gov.cn/xxgk/gkml/202601/P020260114564238901721.pdf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参照教材印刷页116、118—119，保留公众安全、健康和福祉优先的核心原则。解释避免指责、合理关照和超出义务三个层次的不同要求：遵守底线、预防可预见风险、在基本职责之外贡献公共福祉。教材1000磅负载按3000磅设计是帮助理解安全裕度的示例，不能套用于所有工程。超出义务不等于人人必须承担无限责任。本页不安排回答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本页为教学假设，由教师完整演示处置过程。首先核验检测方法、材料批次、使用位置和报告，保留原始记录；其次评估风险紧迫程度，在权限范围内控制危险作业，并向有职责的主体准确报告；随后通过整改和独立复核决定是否恢复工作，形成闭环。拒绝虚假验收不意味着仅凭个人意愿作所有决定，具体措施要与权限、规范和现场风险相匹配。不进行A/B/C投票或角色辩论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用3分钟总结第一讲。回顾职业的公共责任、事故的多环节成因及质量异常的处置顺序，承接第二讲的权利、伦理冲突和责任边界。不能把所有事故解释为工程师都选择低头，也不能仅凭事故后果推断每个人事先知道风险。保留源文件深色总结页和三条总结结构，不设置离堂任务或课堂反馈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https://www.mem.gov.cn/xw/zhsgxx/202604/t20260408_599563.shtml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第二讲45分钟，仍采用直接讲授。第13页导入3分钟，第14—15页权利、责任与美德7分钟，第16页冲突分类4分钟，第17页AI案例8分钟，第18页可持续发展6分钟，第19—20页举报与利益冲突8分钟，第21页决策工具6分钟，第22页小结3分钟。保留源课件右侧AI配图和深色分讲封面，删去课前预习和翻转课堂标识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区分AI生成错误、法律侵权认定和工程伦理要求。生成式系统输出虚假信息，不自动意味着它具有人的故意欺骗意图，也不自动导致每位工程师个人承担法律责任。法律责任要依据具体案件事实；伦理要求则引导团队主动识别风险、说明局限、改善核验和反馈。由教师给出三个层面的区别，随后用生效裁判解释，不安排学生判断谁的错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https://www.zjwx.gov.cn/col/col1673574/art/2026/art_1def58944910459e94f5a04d04c67332.html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教材印刷页120—121，恢复源课件左侧八项权利的完整列表，以右侧三种责任视角相对应。注册名称、签字盖章等权利需结合具体资格与执业范围理解。义务责任强调预防与落实标准，过失责任追究疏忽造成的伤害，角色责任关注岗位应尽职责。三者不构成从小到大逐级加码的三层，也不能解释为承担角色的一切后果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保留源课件纵向01、02、03的结构，依次说明诚实可靠、尽职尽责和忠实服务。用研究生日常科研联系工程伦理：如实保存原始实验记录，明确模型评价局限，正确安排署名，不把不利结果隐藏起来。尽职要求在胜任范围内提供服务，同时持续提升能力。忠实服务并非服从一切要求，遇到公共风险仍需保持独立判断。本页由教师列举实例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参照教材印刷页123—127，按照源文件三栏结构讲角色、利益和责任冲突。角色冲突关注身份职责之间的张力，利益冲突关注私人利益对专业判断的影响，责任冲突关注不同义务难以同时满足的处境。三类可以重叠，不能仅用当事人的动机判断。逐栏补入处理方向，强调披露、回避、专业复核和替代方案。本页不要求同学选择立场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说明10万元是模型生成的赔偿承诺，实际诉讼请求是9999元。裁判已生效，法院结合注意义务、实际损害和因果关系作出判断。不能据此推出所有AI错误都免责，更不能当然把平台责任等同为每位研发人员的责任。工程预防仍有必要：显著说明功能局限，重要信息提供来源核验，针对高风险用途设置复核与反馈机制。右侧为源课件AI示意图，不是案件证据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https://www.zjwx.gov.cn/col/col1673574/art/2026/art_1def58944910459e94f5a04d04c67332.html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以教材印刷页119的可持续发展要求及126—127的选址讨论为基础。本情境是教学假设，教师依次说明经济收益、资源需求、环境影响和分配公平。应审查全生命周期及长期影响，不能预设数据中心必然有害，也不能认为投资就业会自动抵消环境风险。比较不同选址、节能技术、监测和补偿方法，再说明有条件选择的理由。原小组任务改为教师完整讲解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教材印刷页119建议通常通过组织渠道、准确记录、咨询同事、职业学会或律师；紧急情形需要及时行动。用匿名假设说明正常渠道、升级条件与必要信息范围，不能把商业泄密新闻改写成公共安全举报。忠诚不是掩盖问题，举报也不是不受限制地公开所有信息。保留源文件上方情境、下方左右两栏的结构，删除正反方辩论与面向同学的追问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官方核查确认监理接受施工企业宴请，保留与独立判断有关的事实即可。利益冲突可能影响判断，但不能仅凭冲突存在就断言所有验收结论必然错误。依据教材第125页讲拒绝、放弃、披露、不参与或退出等处理方法，再说明独立复核与记录如何恢复可信程序。沿用源文件双栏布局，由教师直接给出风险和处理方法，不安排学生讨论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https://fjb.nea.gov.cn/xxgk/gkml/202601/P020260114564238901721.pdf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教材印刷页125—127提出四问，本页用四项审查直接讲解其内容，仍保留源课件四行编号和文字位置。教师可用第18页选址情境演示：先列自身和公众利益，再看公平与权利，最后查承诺与职责。四项审查只是澄清理由，不能自动输出唯一答案，还应寻找和比较替代方案，例如教材选址案例的第三种方案。不安排课堂练习或作业提交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用3分钟总结第二讲。职业伦理不是无限扩大个人责任，也不止于良心口号。可靠判断需要事实、职责、权限和合理措施；处理冲突需要披露、复核、适当升级及替代方案。串联尖扎事故、永安核查和AI生效判决，指出技术问题与组织条件必须一起分析。恢复源文件深色总结页，取消课后任务和课堂产出要求，完成连续讲授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/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https://www.zjwx.gov.cn/col/col1673574/art/2026/art_1def58944910459e94f5a04d04c67332.html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42adbf9e1949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b300ca43d47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bd49804484d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98dc91c3d640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be647476b344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edf14d3f8845f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d1752ecc74f3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9b102c201432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79a94a04c46c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556174564f48f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7769486a6443f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86e60772d14835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76F13E07-6F9C-4DB1-BBA6-149AE82FD91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410D8E5F-DA43-4795-8C31-6E8AAB03DB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F88E17B1-1417-4F15-8E74-CF17CABEA9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7C7FFB52-21F8-42B0-8ACC-6ACA4405B1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6F76AD0E-8F09-4BD2-B35F-29B2433610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A5985AD0-66B5-4995-B28E-4E3EE30E0D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F364CA7F-EDDE-49E0-B233-D51B36E8E0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0D892B00-B5B4-4A64-8691-047A76D0C0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FD3125CD-00CA-4C8F-9668-DEC9C4916C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EA6390D3-5975-4D3B-B32D-2FA247D29B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6D2212CB-40A7-43C9-A227-B1DC172671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83B04B3-099B-445F-9719-D630128DEF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7B17C1F-D102-4508-B346-60046833FE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CD4FFADC-C657-439F-805B-F22948C651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77C6083E-2A88-4954-B9AE-264D1F0297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38D8DF14-F46F-4AD3-BBFD-71507B5D7B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11F78E2D-3D28-452A-A116-6A5916418C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9D7EB181-0878-4832-B771-6CDA31BE07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0CEB839D-586C-4283-9E09-4B4BAE549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923B517C-17FD-472A-B893-98E452E0B3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6A21911D-6BC3-4F6E-95DD-4CEC5175D4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5997FB68-C041-429B-9656-1FB747AC61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ED4658F4-4D25-49F9-AE7B-7DADC7B2C2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2978DCA-F636-488C-A8D1-9532EAF576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1A719CC2-73D4-437D-B477-DB2F4FBF32C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D833EB60-7BD8-4D86-B589-ADBE3677933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AD6FF0B0-F2C0-48A8-B1CB-EB6B5B120E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92224F7F-975F-46A4-BD4E-2E26F74674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AFA4D2A9-5019-4D56-9903-26E95D4498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09D697BD-080C-41EE-9764-CE4BFC0740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1E85428A-A5EE-4C59-99BD-25ADEDE328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614E9E84-63E7-4C25-83D7-2C1EB0EB83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EE250DA2-A8B7-4AA5-9A0A-7E6499AEC9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DF8F202D-A378-4546-BCC1-6AA1FA6B8D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F4497392-2551-4D93-BD53-E5616A9440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0E4BADDA-BFD4-40B8-A1C2-03C14F3F5E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3EBCAE29-7EBA-4076-8EFA-2D8C34C105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75F8C1A8-0CBB-479C-91BC-670F153A67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B8016297-56B0-401F-B8F2-D17931608A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99A65AEF-0689-40E5-91F5-98C892190A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C5492DE0-04AB-4C01-B328-D819698AD5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99119618-8873-4A69-9210-E874FB51E2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8D75E2F9-A124-4234-8094-25172C03E0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F429612A-61B9-4DF5-B68A-BA419CB09FB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18B5CFCD-A4A1-43A7-9BF9-4AEEA8B7D4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2054D9D0-0B21-4B8B-98B5-500437ECFC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F834C2ED-4974-458D-831D-1832CBA58E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BF16218-39F7-478C-B727-62C7EBDFC8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EC9EFBCB-E5C6-490A-B7B0-F29B171F1E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9353CB01-CE74-4DFA-AD1E-D5E0DF087B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A7B574A0-AD9C-401C-A257-76EDBB29FA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0D11CF51-BB46-437C-AD0B-3C0D68F647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AECCFDF-F755-439F-B23D-95689AA0EE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DDAE3C32-FE45-41E2-B60F-5E2C79B7D9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97BA3452-D100-48EF-8AC8-08F7CCFA41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9EE90749-4B5F-4887-917B-2D8466B859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5DDA7326-3EBB-4E7A-ACCD-D1AB250C60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BC35604B-24B8-49B6-AEFD-109194D1E6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78e986f4de4146" /><Relationship Type="http://schemas.openxmlformats.org/officeDocument/2006/relationships/slideLayout" Target="/ppt/slideLayouts/slideLayout1.xml" Id="R95e2b6648cd14fc6" /><Relationship Type="http://schemas.openxmlformats.org/officeDocument/2006/relationships/slideLayout" Target="/ppt/slideLayouts/slideLayout2.xml" Id="R7cfd6fa8b15f450d" /><Relationship Type="http://schemas.openxmlformats.org/officeDocument/2006/relationships/slideLayout" Target="/ppt/slideLayouts/slideLayout3.xml" Id="R7926b9b8980940a6" /><Relationship Type="http://schemas.openxmlformats.org/officeDocument/2006/relationships/slideLayout" Target="/ppt/slideLayouts/slideLayout4.xml" Id="Ra03c3029ffe54c9b" /><Relationship Type="http://schemas.openxmlformats.org/officeDocument/2006/relationships/slideLayout" Target="/ppt/slideLayouts/slideLayout5.xml" Id="R44cccb0745804561" /><Relationship Type="http://schemas.openxmlformats.org/officeDocument/2006/relationships/slideLayout" Target="/ppt/slideLayouts/slideLayout6.xml" Id="Rc18ea277b685434a" /><Relationship Type="http://schemas.openxmlformats.org/officeDocument/2006/relationships/slideLayout" Target="/ppt/slideLayouts/slideLayout7.xml" Id="R297689542e9f485a" /><Relationship Type="http://schemas.openxmlformats.org/officeDocument/2006/relationships/slideLayout" Target="/ppt/slideLayouts/slideLayout8.xml" Id="R360ad5b43a124f50" /><Relationship Type="http://schemas.openxmlformats.org/officeDocument/2006/relationships/slideLayout" Target="/ppt/slideLayouts/slideLayout9.xml" Id="Rdcfcc6c3ecc24baa" /><Relationship Type="http://schemas.openxmlformats.org/officeDocument/2006/relationships/slideLayout" Target="/ppt/slideLayouts/slideLayout10.xml" Id="R19b350b9f2324ca8" /><Relationship Type="http://schemas.openxmlformats.org/officeDocument/2006/relationships/slideLayout" Target="/ppt/slideLayouts/slideLayout11.xml" Id="R4a4e5b6ff2f54cd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bb48766aa53492b" /><Relationship Type="http://schemas.openxmlformats.org/officeDocument/2006/relationships/slideLayout" Target="/ppt/slideLayouts/slideLayout12.xml" Id="Re406fb4cdf1c421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3E6C8DD1-725D-4CB7-A0DA-26E2698A01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E4962E6A-C363-4948-8955-FB65BA9C8F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56D6E995-550E-4B3D-9D79-1040C8D965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AF8C0DC-4AA6-4756-AC8F-D196D5C282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DDFEB075-04B3-4F7C-B141-39E4D05F27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e2b6648cd14fc6"/>
    <p:sldLayoutId xmlns:r="http://schemas.openxmlformats.org/officeDocument/2006/relationships" id="2147483650" r:id="R7cfd6fa8b15f450d"/>
    <p:sldLayoutId xmlns:r="http://schemas.openxmlformats.org/officeDocument/2006/relationships" id="2147483651" r:id="R7926b9b8980940a6"/>
    <p:sldLayoutId xmlns:r="http://schemas.openxmlformats.org/officeDocument/2006/relationships" id="2147483652" r:id="Ra03c3029ffe54c9b"/>
    <p:sldLayoutId xmlns:r="http://schemas.openxmlformats.org/officeDocument/2006/relationships" id="2147483653" r:id="R44cccb0745804561"/>
    <p:sldLayoutId xmlns:r="http://schemas.openxmlformats.org/officeDocument/2006/relationships" id="2147483654" r:id="Rc18ea277b685434a"/>
    <p:sldLayoutId xmlns:r="http://schemas.openxmlformats.org/officeDocument/2006/relationships" id="2147483655" r:id="R297689542e9f485a"/>
    <p:sldLayoutId xmlns:r="http://schemas.openxmlformats.org/officeDocument/2006/relationships" id="2147483656" r:id="R360ad5b43a124f50"/>
    <p:sldLayoutId xmlns:r="http://schemas.openxmlformats.org/officeDocument/2006/relationships" id="2147483657" r:id="Rdcfcc6c3ecc24baa"/>
    <p:sldLayoutId xmlns:r="http://schemas.openxmlformats.org/officeDocument/2006/relationships" id="2147483658" r:id="R19b350b9f2324ca8"/>
    <p:sldLayoutId xmlns:r="http://schemas.openxmlformats.org/officeDocument/2006/relationships" id="2147483659" r:id="R4a4e5b6ff2f54cd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406fb4cdf1c421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91472ae566f419d" /><Relationship Type="http://schemas.openxmlformats.org/officeDocument/2006/relationships/image" Target="/ppt/media/image.png" Id="R1c5a7f4fb2d34fdd" /><Relationship Type="http://schemas.openxmlformats.org/officeDocument/2006/relationships/notesSlide" Target="/ppt/notesSlides/notesSlide1.xml" Id="Rc100f16506ca4e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f23d40b4783402c" /><Relationship Type="http://schemas.openxmlformats.org/officeDocument/2006/relationships/image" Target="/ppt/media/image2.png" Id="Re665d02d17634787" /><Relationship Type="http://schemas.openxmlformats.org/officeDocument/2006/relationships/notesSlide" Target="/ppt/notesSlides/notesSlide2.xml" Id="R235265f07bbc41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4c820fa16f94085" /><Relationship Type="http://schemas.openxmlformats.org/officeDocument/2006/relationships/image" Target="/ppt/media/image3.png" Id="Rc073e2cd65eb4d92" /><Relationship Type="http://schemas.openxmlformats.org/officeDocument/2006/relationships/notesSlide" Target="/ppt/notesSlides/notesSlide3.xml" Id="R8939262671aa4c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cccb3abd0ba45d3" /><Relationship Type="http://schemas.openxmlformats.org/officeDocument/2006/relationships/image" Target="/ppt/media/image4.png" Id="R4dbc024bdc9c4a0c" /><Relationship Type="http://schemas.openxmlformats.org/officeDocument/2006/relationships/notesSlide" Target="/ppt/notesSlides/notesSlide4.xml" Id="R9a2e269bed084d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e249ceced6f41d1" /><Relationship Type="http://schemas.openxmlformats.org/officeDocument/2006/relationships/image" Target="/ppt/media/image5.png" Id="Rd1edf899f986480b" /><Relationship Type="http://schemas.openxmlformats.org/officeDocument/2006/relationships/notesSlide" Target="/ppt/notesSlides/notesSlide5.xml" Id="R8735382377bf41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f9a5ecf7fbf4d0f" /><Relationship Type="http://schemas.openxmlformats.org/officeDocument/2006/relationships/image" Target="/ppt/media/image.jpeg" Id="Rc43eb0c8b6f14ecf" /><Relationship Type="http://schemas.openxmlformats.org/officeDocument/2006/relationships/image" Target="/ppt/media/image6.png" Id="Rc0c2b1d725aa4f08" /><Relationship Type="http://schemas.openxmlformats.org/officeDocument/2006/relationships/notesSlide" Target="/ppt/notesSlides/notesSlide6.xml" Id="Rdf7f0832ede642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d382e78e0964cc6" /><Relationship Type="http://schemas.openxmlformats.org/officeDocument/2006/relationships/image" Target="/ppt/media/image7.png" Id="Rcc24545ff4c94a1f" /><Relationship Type="http://schemas.openxmlformats.org/officeDocument/2006/relationships/notesSlide" Target="/ppt/notesSlides/notesSlide7.xml" Id="R0a32ba9585044d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378dadc0f07406b" /><Relationship Type="http://schemas.openxmlformats.org/officeDocument/2006/relationships/image" Target="/ppt/media/image8.png" Id="R0675d6cddc9f4ec1" /><Relationship Type="http://schemas.openxmlformats.org/officeDocument/2006/relationships/notesSlide" Target="/ppt/notesSlides/notesSlide8.xml" Id="R065c49da25a249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6d4dc1baff3477a" /><Relationship Type="http://schemas.openxmlformats.org/officeDocument/2006/relationships/image" Target="/ppt/media/image9.png" Id="R09db6b3138ee4527" /><Relationship Type="http://schemas.openxmlformats.org/officeDocument/2006/relationships/notesSlide" Target="/ppt/notesSlides/notesSlide9.xml" Id="R30d3b4ec9e7d4c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edd1561937d4048" /><Relationship Type="http://schemas.openxmlformats.org/officeDocument/2006/relationships/image" Target="/ppt/media/image10.png" Id="R5b8439b65bf44ac7" /><Relationship Type="http://schemas.openxmlformats.org/officeDocument/2006/relationships/notesSlide" Target="/ppt/notesSlides/notesSlide10.xml" Id="Rda17f3759aa64f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8c172c2c4ac4515" /><Relationship Type="http://schemas.openxmlformats.org/officeDocument/2006/relationships/image" Target="/ppt/media/image11.png" Id="Rb61bc8bf2be04228" /><Relationship Type="http://schemas.openxmlformats.org/officeDocument/2006/relationships/notesSlide" Target="/ppt/notesSlides/notesSlide11.xml" Id="Rf938143fb2234d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ffd5c862c384a4f" /><Relationship Type="http://schemas.openxmlformats.org/officeDocument/2006/relationships/image" Target="/ppt/media/image2.jpeg" Id="R2191774e32ae4155" /><Relationship Type="http://schemas.openxmlformats.org/officeDocument/2006/relationships/image" Target="/ppt/media/image12.png" Id="R248771e6094b41a7" /><Relationship Type="http://schemas.openxmlformats.org/officeDocument/2006/relationships/notesSlide" Target="/ppt/notesSlides/notesSlide12.xml" Id="Rdbc2aacd2f7043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c6ce65d96a845f0" /><Relationship Type="http://schemas.openxmlformats.org/officeDocument/2006/relationships/image" Target="/ppt/media/image13.png" Id="Rfb660f4f0efe4907" /><Relationship Type="http://schemas.openxmlformats.org/officeDocument/2006/relationships/notesSlide" Target="/ppt/notesSlides/notesSlide13.xml" Id="Recf59c6a5f3b46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7f1bdd9eb1548a3" /><Relationship Type="http://schemas.openxmlformats.org/officeDocument/2006/relationships/image" Target="/ppt/media/image14.png" Id="Rac8ce07d3b6a4921" /><Relationship Type="http://schemas.openxmlformats.org/officeDocument/2006/relationships/notesSlide" Target="/ppt/notesSlides/notesSlide14.xml" Id="R4b23e77e903044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286069c517f420e" /><Relationship Type="http://schemas.openxmlformats.org/officeDocument/2006/relationships/image" Target="/ppt/media/image15.png" Id="Rec7754cfff7f4f11" /><Relationship Type="http://schemas.openxmlformats.org/officeDocument/2006/relationships/notesSlide" Target="/ppt/notesSlides/notesSlide15.xml" Id="Rd7c7bb8f341c454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192364022434a7a" /><Relationship Type="http://schemas.openxmlformats.org/officeDocument/2006/relationships/image" Target="/ppt/media/image16.png" Id="Re67ef31cadec48a3" /><Relationship Type="http://schemas.openxmlformats.org/officeDocument/2006/relationships/notesSlide" Target="/ppt/notesSlides/notesSlide16.xml" Id="Re3832802ae16435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43459678a2f4e69" /><Relationship Type="http://schemas.openxmlformats.org/officeDocument/2006/relationships/image" Target="/ppt/media/image3.jpeg" Id="Rf74ee6d930624eb3" /><Relationship Type="http://schemas.openxmlformats.org/officeDocument/2006/relationships/image" Target="/ppt/media/image17.png" Id="Rbb5028dc7d86466e" /><Relationship Type="http://schemas.openxmlformats.org/officeDocument/2006/relationships/notesSlide" Target="/ppt/notesSlides/notesSlide17.xml" Id="R78598bd35c33464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9dddfd85514483d" /><Relationship Type="http://schemas.openxmlformats.org/officeDocument/2006/relationships/image" Target="/ppt/media/image18.png" Id="Rc2d715497dd34bae" /><Relationship Type="http://schemas.openxmlformats.org/officeDocument/2006/relationships/notesSlide" Target="/ppt/notesSlides/notesSlide18.xml" Id="Rf0df973507544d5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380619faf364699" /><Relationship Type="http://schemas.openxmlformats.org/officeDocument/2006/relationships/image" Target="/ppt/media/image19.png" Id="Rcf0d40aa19f4444d" /><Relationship Type="http://schemas.openxmlformats.org/officeDocument/2006/relationships/notesSlide" Target="/ppt/notesSlides/notesSlide19.xml" Id="Rd3c50291a9074a5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05f331120ea4015" /><Relationship Type="http://schemas.openxmlformats.org/officeDocument/2006/relationships/image" Target="/ppt/media/image20.png" Id="R758d46d00bd54543" /><Relationship Type="http://schemas.openxmlformats.org/officeDocument/2006/relationships/notesSlide" Target="/ppt/notesSlides/notesSlide20.xml" Id="Rbce4d002415c4c3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78aa8eb5caa4ec2" /><Relationship Type="http://schemas.openxmlformats.org/officeDocument/2006/relationships/image" Target="/ppt/media/image21.png" Id="R72a64c78201f4522" /><Relationship Type="http://schemas.openxmlformats.org/officeDocument/2006/relationships/notesSlide" Target="/ppt/notesSlides/notesSlide21.xml" Id="Ra515623d6e98430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de5b97f4a8e4652" /><Relationship Type="http://schemas.openxmlformats.org/officeDocument/2006/relationships/image" Target="/ppt/media/image22.png" Id="Rbe15ace8505c45a0" /><Relationship Type="http://schemas.openxmlformats.org/officeDocument/2006/relationships/notesSlide" Target="/ppt/notesSlides/notesSlide22.xml" Id="Rf112d9bf8d774a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26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C8306B5-6751-4E6D-B68F-1D52AD28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778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工程伦理 · 第5章 · 第一讲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91DD8C9-4B1B-4FE3-8C61-DCCC9487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540000"/>
            <a:ext cx="10160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工程师的职业伦理</a:t>
            </a:r>
            <a:endParaRPr sz="1100"/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D6B45BFC-6BF0-4104-9C95-AD22EA5A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200" b="1" i="0">
                <a:solidFill>
                  <a:srgbClr val="CBD5E1"/>
                </a:solidFill>
                <a:latin typeface="Noto Serif SC"/>
                <a:ea typeface="Noto Serif SC"/>
                <a:cs typeface="Noto Serif SC"/>
              </a:rPr>
              <a:t>从工程事故看工程师的首要责任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37103C17-8498-454C-AAAE-8954697F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842000"/>
            <a:ext cx="1016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河南师范大学研究生课程讲授 ｜ 课堂时长：45分钟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AC1EB-080A-4079-BA10-9CF6EAD3C9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a7f4fb2d34fdd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1507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355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99BAA91-FDCC-4770-BE77-576F8965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AFC4D9"/>
                </a:solidFill>
                <a:latin typeface="Noto Sans SC"/>
                <a:ea typeface="Noto Sans SC"/>
                <a:cs typeface="Noto Sans SC"/>
              </a:rPr>
              <a:t>工程伦理 · 课程目录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48D0532-03A5-4A0B-8CDA-5F4496FC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16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800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课程目录与讲授重点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D6A6255C-199E-440B-A412-78398F18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600" b="1" i="0">
                <a:solidFill>
                  <a:srgbClr val="7CC3FF"/>
                </a:solidFill>
                <a:latin typeface="Noto Sans SC"/>
                <a:ea typeface="Noto Sans SC"/>
                <a:cs typeface="Noto Sans SC"/>
              </a:rPr>
              <a:t>第一讲：工程职业与公众安全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01EC105-3DD4-4370-8211-A66A1396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4000"/>
            <a:ext cx="5080000" cy="2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90500" indent="-190500">
              <a:lnSpc>
                <a:spcPct val="150000"/>
              </a:lnSpc>
              <a:buClrTx/>
              <a:buChar char="•"/>
            </a:pPr>
            <a:r>
              <a:rPr sz="1500" b="0" i="0">
                <a:solidFill>
                  <a:srgbClr val="DBE7F3"/>
                </a:solidFill>
                <a:latin typeface="Noto Sans SC"/>
                <a:ea typeface="Noto Sans SC"/>
                <a:cs typeface="Noto Sans SC"/>
              </a:rPr>
              <a:t>工程职业的性质与职业制度</a:t>
            </a:r>
          </a:p>
          <a:p xmlns:a="http://schemas.openxmlformats.org/drawingml/2006/main">
            <a:pPr marL="190500" indent="-190500">
              <a:lnSpc>
                <a:spcPct val="150000"/>
              </a:lnSpc>
              <a:buClrTx/>
              <a:buChar char="•"/>
            </a:pPr>
            <a:r>
              <a:rPr sz="1500" b="0" i="0">
                <a:solidFill>
                  <a:srgbClr val="DBE7F3"/>
                </a:solidFill>
                <a:latin typeface="Noto Sans SC"/>
                <a:ea typeface="Noto Sans SC"/>
                <a:cs typeface="Noto Sans SC"/>
              </a:rPr>
              <a:t>工程伦理章程与首要责任</a:t>
            </a:r>
          </a:p>
          <a:p xmlns:a="http://schemas.openxmlformats.org/drawingml/2006/main">
            <a:pPr marL="190500" indent="-190500">
              <a:lnSpc>
                <a:spcPct val="150000"/>
              </a:lnSpc>
              <a:buClrTx/>
              <a:buChar char="•"/>
            </a:pPr>
            <a:r>
              <a:rPr sz="1500" b="0" i="0">
                <a:solidFill>
                  <a:srgbClr val="DBE7F3"/>
                </a:solidFill>
                <a:latin typeface="Noto Sans SC"/>
                <a:ea typeface="Noto Sans SC"/>
                <a:cs typeface="Noto Sans SC"/>
              </a:rPr>
              <a:t>尖扎大桥、永安电站案例分析</a:t>
            </a:r>
          </a:p>
          <a:p xmlns:a="http://schemas.openxmlformats.org/drawingml/2006/main">
            <a:pPr marL="190500" indent="-190500">
              <a:lnSpc>
                <a:spcPct val="150000"/>
              </a:lnSpc>
              <a:buClrTx/>
              <a:buChar char="•"/>
            </a:pPr>
            <a:r>
              <a:rPr sz="1500" b="0" i="0">
                <a:solidFill>
                  <a:srgbClr val="DBE7F3"/>
                </a:solidFill>
                <a:latin typeface="Noto Sans SC"/>
                <a:ea typeface="Noto Sans SC"/>
                <a:cs typeface="Noto Sans SC"/>
              </a:rPr>
              <a:t>质量异常的处置与责任落实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8B417B68-EAFF-4721-B41D-93C81401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2860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600" b="1" i="0">
                <a:solidFill>
                  <a:srgbClr val="7CC3FF"/>
                </a:solidFill>
                <a:latin typeface="Noto Sans SC"/>
                <a:ea typeface="Noto Sans SC"/>
                <a:cs typeface="Noto Sans SC"/>
              </a:rPr>
              <a:t>第二讲：伦理冲突与责任边界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7EFE890-CE41-4AA0-9CA1-E6013E6D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794000"/>
            <a:ext cx="5080000" cy="2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90500" indent="-190500">
              <a:lnSpc>
                <a:spcPct val="150000"/>
              </a:lnSpc>
              <a:buClrTx/>
              <a:buChar char="•"/>
            </a:pPr>
            <a:r>
              <a:rPr sz="1500" b="0" i="0">
                <a:solidFill>
                  <a:srgbClr val="DBE7F3"/>
                </a:solidFill>
                <a:latin typeface="Noto Sans SC"/>
                <a:ea typeface="Noto Sans SC"/>
                <a:cs typeface="Noto Sans SC"/>
              </a:rPr>
              <a:t>职业权利、责任与职业美德</a:t>
            </a:r>
          </a:p>
          <a:p xmlns:a="http://schemas.openxmlformats.org/drawingml/2006/main">
            <a:pPr marL="190500" indent="-190500">
              <a:lnSpc>
                <a:spcPct val="150000"/>
              </a:lnSpc>
              <a:buClrTx/>
              <a:buChar char="•"/>
            </a:pPr>
            <a:r>
              <a:rPr sz="1500" b="0" i="0">
                <a:solidFill>
                  <a:srgbClr val="DBE7F3"/>
                </a:solidFill>
                <a:latin typeface="Noto Sans SC"/>
                <a:ea typeface="Noto Sans SC"/>
                <a:cs typeface="Noto Sans SC"/>
              </a:rPr>
              <a:t>角色、利益与责任冲突</a:t>
            </a:r>
          </a:p>
          <a:p xmlns:a="http://schemas.openxmlformats.org/drawingml/2006/main">
            <a:pPr marL="190500" indent="-190500">
              <a:lnSpc>
                <a:spcPct val="150000"/>
              </a:lnSpc>
              <a:buClrTx/>
              <a:buChar char="•"/>
            </a:pPr>
            <a:r>
              <a:rPr sz="1500" b="0" i="0">
                <a:solidFill>
                  <a:srgbClr val="DBE7F3"/>
                </a:solidFill>
                <a:latin typeface="Noto Sans SC"/>
                <a:ea typeface="Noto Sans SC"/>
                <a:cs typeface="Noto Sans SC"/>
              </a:rPr>
              <a:t>AI幻觉案例与可持续发展</a:t>
            </a:r>
          </a:p>
          <a:p xmlns:a="http://schemas.openxmlformats.org/drawingml/2006/main">
            <a:pPr marL="190500" indent="-190500">
              <a:lnSpc>
                <a:spcPct val="150000"/>
              </a:lnSpc>
              <a:buClrTx/>
              <a:buChar char="•"/>
            </a:pPr>
            <a:r>
              <a:rPr sz="1500" b="0" i="0">
                <a:solidFill>
                  <a:srgbClr val="DBE7F3"/>
                </a:solidFill>
                <a:latin typeface="Noto Sans SC"/>
                <a:ea typeface="Noto Sans SC"/>
                <a:cs typeface="Noto Sans SC"/>
              </a:rPr>
              <a:t>忠诚与举报、利益冲突及伦理决策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0DBFC47-613D-42C2-A5C3-B6C66D91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AFC4D9"/>
                </a:solidFill>
                <a:latin typeface="Noto Sans SC"/>
                <a:ea typeface="Noto Sans SC"/>
                <a:cs typeface="Noto Sans SC"/>
              </a:rPr>
              <a:t>讲授线索：职业基础 → 事故案例 → 首要责任 → 冲突处理与伦理决策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D8391-E477-460B-8374-8C57B9DBF1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5d02d17634787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187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26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4B4ED33-A907-4F11-8DEB-C28DB0B7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016000"/>
            <a:ext cx="1016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案例导入 · 分析视角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649E7F99-3233-4B67-BDF5-11F46FE0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905000"/>
            <a:ext cx="1016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7000"/>
              </a:lnSpc>
              <a:buNone/>
            </a:pPr>
            <a:r>
              <a:rPr sz="3600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从三聚氰胺到尖扎大桥，</a:t>
            </a:r>
          </a:p>
          <a:p xmlns:a="http://schemas.openxmlformats.org/drawingml/2006/main">
            <a:pPr marL="0" indent="0">
              <a:lnSpc>
                <a:spcPct val="117000"/>
              </a:lnSpc>
              <a:buNone/>
            </a:pPr>
            <a:r>
              <a:rPr sz="3600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工程事故中的多重失效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F70A34C-4830-4075-9FB7-93213285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826000"/>
            <a:ext cx="9652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6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技术层面：材料、设计和施工缺陷可能形成直接风险。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6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组织层面：质量管理、验收和监督失效使风险持续积累。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6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专业层面：工程师应依据职责和证据识别、报告并控制风险。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08960-F875-4E0B-AE0A-83BC3BC5EC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3e2cd65eb4d92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5686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071CFBA-2676-465F-984E-9DC0C8A2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知识梳理 · 概念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E3D4DE0-0FB5-4282-B744-0C613F0F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795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600" b="1" i="0">
                <a:solidFill>
                  <a:srgbClr val="0D1326"/>
                </a:solidFill>
                <a:latin typeface="Noto Serif SC"/>
                <a:ea typeface="Noto Serif SC"/>
                <a:cs typeface="Noto Serif SC"/>
              </a:rPr>
              <a:t>工程职业的性质与公共责任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D0D9E9F-BBEA-4D92-BFC7-0AF2A853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6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工程职业 = 专业知识与能力 + 职业自律 + 面向公众的服务</a:t>
            </a:r>
          </a:p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6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工程师向雇主和客户提供服务，同时承担保护公众的信托责任。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A597BFA0-7690-4B32-9C36-9F61BEF5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6000"/>
            <a:ext cx="330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① 长期专业训练</a:t>
            </a:r>
            <a:endParaRPr sz="1100"/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6E2AC9C1-D347-4CB9-8883-E5730CE4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302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4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系统的工程教育、实践经验和能力评价，为可靠的专业判断提供基础。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F97AE91-FBAE-458D-AE32-031D12C7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556000"/>
            <a:ext cx="330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② 职业社团自治</a:t>
            </a:r>
            <a:endParaRPr sz="1100"/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646E1657-3FF7-4FFC-9DE7-B2CC7781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4000500"/>
            <a:ext cx="3302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4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职业共同体通过技术标准和伦理章程促进自律，同时接受法律监管和社会监督。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9F4081C-7541-4F3D-9F83-1F7E089E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556000"/>
            <a:ext cx="330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③ 服务公众福祉</a:t>
            </a:r>
            <a:endParaRPr sz="1100"/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9BA0283F-4F18-4835-9514-926BB10F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000500"/>
            <a:ext cx="3302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4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工程决策应关注公众安全、健康与福祉，并兼顾环境和长远影响。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AEC23FA-BE5D-4CA2-8D37-077F2435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2000"/>
            <a:ext cx="1066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概念区分：行业、产业侧重经济活动与生产关系；职业侧重专业能力、社会职能和行为规范。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95FBB-5F16-4F26-946F-3970D2ADAA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c024bdc9c4a0c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204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DD6800B-108A-4363-BB1D-C2B647EC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知识梳理 · 制度框架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643E539D-D44B-43C6-811F-E95F18FF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795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600" b="1" i="0">
                <a:solidFill>
                  <a:srgbClr val="0D1326"/>
                </a:solidFill>
                <a:latin typeface="Noto Serif SC"/>
                <a:ea typeface="Noto Serif SC"/>
                <a:cs typeface="Noto Serif SC"/>
              </a:rPr>
              <a:t>注册执业制度的典型路径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8CF421D-04F9-423B-8AD0-30111ED9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9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教育、实践、考试、注册与继续教育，共同支持专业能力与责任约束。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E2CCB23E-C1C3-4C1E-A15B-9CE806DE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0480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01</a:t>
            </a:r>
            <a:endParaRPr sz="1100"/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D05C1D56-916F-497F-B438-7CDB869C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3048000"/>
            <a:ext cx="965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高校教育</a:t>
            </a:r>
            <a:r>
              <a:rPr sz="15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　建立工程专业知识与能力基础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94D0418D-DBE4-4F0C-AA90-F0D91EDC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6830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02</a:t>
            </a:r>
            <a:endParaRPr sz="1100"/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E445E75-C14C-41DE-B75B-D91A7C99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3683000"/>
            <a:ext cx="965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职业实践</a:t>
            </a:r>
            <a:r>
              <a:rPr sz="15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　积累相应领域的实践经验，满足资格条件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0D6609-BCCB-4947-8011-9051C7CE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3180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03</a:t>
            </a:r>
            <a:endParaRPr sz="1100"/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2A1987E1-69B5-43A2-BFE2-C95C3F13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4318000"/>
            <a:ext cx="965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资格考试</a:t>
            </a:r>
            <a:r>
              <a:rPr sz="15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　按专业和资格类别参加相应考试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B02B21D4-582B-43CC-98AE-77C4DB2A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9530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04</a:t>
            </a:r>
            <a:endParaRPr sz="1100"/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8C64FB29-A33C-4DD2-A2B7-86E7284C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4953000"/>
            <a:ext cx="965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注册执业</a:t>
            </a:r>
            <a:r>
              <a:rPr sz="15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　在核定范围内执业，并承担相应责任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A0B5CF2C-1049-460B-8488-62F809D2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5880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05</a:t>
            </a:r>
            <a:endParaRPr sz="1100"/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766091D-971B-43B8-90F3-61B83FDA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5588000"/>
            <a:ext cx="965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继续教育</a:t>
            </a:r>
            <a:r>
              <a:rPr sz="15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　持续更新知识与能力，满足执业要求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49D29-7365-4CE9-BD4D-64FFCE5384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df899f986480b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553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326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>
            <a:extLst xmlns:a="http://schemas.openxmlformats.org/drawingml/2006/main">
              <a:ext uri="{FF2B5EF4-FFF2-40B4-BE49-F238E27FC236}">
                <a16:creationId xmlns:a16="http://schemas.microsoft.com/office/drawing/2014/main" id="{EC10BBF6-DE42-4CE0-A3CC-0EEC149053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eb0c8b6f14ecf"/>
          <a:srcRect xmlns:a="http://schemas.openxmlformats.org/drawingml/2006/main" l="0" t="6862" r="0" b="68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032000"/>
            <a:ext cx="4318000" cy="2794000"/>
          </a:xfrm>
          <a:prstGeom xmlns:a="http://schemas.openxmlformats.org/drawingml/2006/main" prst="roundRect">
            <a:avLst>
              <a:gd name="adj" fmla="val 5454"/>
            </a:avLst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63C017E0-701C-4A7A-9E40-AE0DE6E2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90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案例分析 · 一</a:t>
            </a:r>
            <a:endParaRPr sz="1100"/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DFBE9BD1-C980-4B55-958A-353C0CF7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3800" b="1" i="0">
                <a:solidFill>
                  <a:srgbClr val="EF4444"/>
                </a:solidFill>
                <a:latin typeface="Noto Serif SC"/>
                <a:ea typeface="Noto Serif SC"/>
                <a:cs typeface="Noto Serif SC"/>
              </a:rPr>
              <a:t>13人死亡、3人失联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BE20C85-0676-40F8-8596-8BACDE63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3800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多道安全防线失效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28267CA-BE7D-41F1-84AB-39594518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3000"/>
            <a:ext cx="5334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2025年8月22日，尖扎黄河特大桥施工项目发生重大垮塌。</a:t>
            </a:r>
          </a:p>
          <a:p xmlns:a="http://schemas.openxmlformats.org/drawingml/2006/main"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劣质螺栓承载能力较国标总体下降约41%。</a:t>
            </a:r>
          </a:p>
          <a:p xmlns:a="http://schemas.openxmlformats.org/drawingml/2006/main"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分配梁制作安装不合要求，验收及质量管理失效。</a:t>
            </a:r>
          </a:p>
          <a:p xmlns:a="http://schemas.openxmlformats.org/drawingml/2006/main"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调查报告还指出建设、设计、监理和监管等环节的问题。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4C98BCB-8F62-4714-BA00-5CCC11D6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来源：应急管理部2026年4月事故调查报告；右图为原课件场景配图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0010F-003A-4A46-9D4D-D5AB4337D6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2b1d725aa4f08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545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496EC8B-8136-4556-9F71-6833849B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案例分析 · 责任链拆解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43455-2EB7-4BE3-B4B2-30E70EDE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795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400" b="1" i="0">
                <a:solidFill>
                  <a:srgbClr val="0D1326"/>
                </a:solidFill>
                <a:latin typeface="Noto Serif SC"/>
                <a:ea typeface="Noto Serif SC"/>
                <a:cs typeface="Noto Serif SC"/>
              </a:rPr>
              <a:t>事故责任链：从采购到监管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DE6B0C2F-5424-4D0C-9E1F-9C003729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54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采购环节</a:t>
            </a:r>
            <a:endParaRPr sz="1100"/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133E6B77-D118-4E44-9E32-B4641B48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0500"/>
            <a:ext cx="254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核验材料来源、检测和验收记录。</a:t>
            </a:r>
          </a:p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材料不合格时，应拒绝放行并准确记录异常。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421386E-B73D-47F3-B9A9-AFAF9E21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286000"/>
            <a:ext cx="254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施工环节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2368BAD-F60D-4DAA-8C68-0728B7E8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730500"/>
            <a:ext cx="254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按设计和工艺要求施工，核实队伍资格。</a:t>
            </a:r>
          </a:p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材料、制作和安装质量都应形成可查记录。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EFD3B879-34A9-49A8-9555-E588162C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286000"/>
            <a:ext cx="254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监理环节</a:t>
            </a:r>
            <a:endParaRPr sz="1100"/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0498BE63-0F78-40DB-8825-511AB8F3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730500"/>
            <a:ext cx="254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独立核验工序，及时报告异常。</a:t>
            </a:r>
          </a:p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旁站与验收不能仅有签字。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A49F5985-9EBC-441C-846F-C0DD3EF1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6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设计环节</a:t>
            </a:r>
            <a:endParaRPr sz="1100"/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F10F6C8E-7066-43D1-9A98-A9479125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30500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明确关键受力和安装要求，做好交底与复核。</a:t>
            </a:r>
          </a:p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临时结构及变更同样需要技术审查。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E41331A8-F5C4-466C-B662-5E562781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6500"/>
            <a:ext cx="10668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500" b="1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管理与监管的补充责任：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5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建设管理应落实分包、验收和整改闭环；监管应核查履职与重大隐患。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5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完整责任链同时涉及工程师、组织和监管主体，具体归责以调查结论为准。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8E489-AA99-4EDE-B4F3-6167C3A812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4545ff4c94a1f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2644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76FA312-84F6-4787-B67A-FDCAF06C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案例分析 · 二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9983BEE-5E81-47B9-BCF2-014119C9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795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400" b="1" i="0">
                <a:solidFill>
                  <a:srgbClr val="0D1326"/>
                </a:solidFill>
                <a:latin typeface="Noto Serif SC"/>
                <a:ea typeface="Noto Serif SC"/>
                <a:cs typeface="Noto Serif SC"/>
              </a:rPr>
              <a:t>永安电站：质量问题与风险边界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A7CECA78-6C58-449B-BA8E-E0FBA7C8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95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官方核查确认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613684C-9AF4-43C9-A274-AF118AF6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4000"/>
            <a:ext cx="508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77800" indent="-177800">
              <a:lnSpc>
                <a:spcPct val="150000"/>
              </a:lnSpc>
              <a:buClrTx/>
              <a:buChar char="•"/>
            </a:pPr>
            <a:r>
              <a:rPr sz="14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福建永安抽水蓄能电站，总投资74.96亿元</a:t>
            </a:r>
          </a:p>
          <a:p xmlns:a="http://schemas.openxmlformats.org/drawingml/2006/main">
            <a:pPr marL="177800" indent="-177800">
              <a:lnSpc>
                <a:spcPct val="150000"/>
              </a:lnSpc>
              <a:buClrTx/>
              <a:buChar char="•"/>
            </a:pPr>
            <a:r>
              <a:rPr sz="14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部分坝肩边坡支护钢筋长度不符合设计要求</a:t>
            </a:r>
          </a:p>
          <a:p xmlns:a="http://schemas.openxmlformats.org/drawingml/2006/main">
            <a:pPr marL="177800" indent="-177800">
              <a:lnSpc>
                <a:spcPct val="150000"/>
              </a:lnSpc>
              <a:buClrTx/>
              <a:buChar char="•"/>
            </a:pPr>
            <a:r>
              <a:rPr sz="14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注浆及施工质量管理存在问题</a:t>
            </a:r>
          </a:p>
          <a:p xmlns:a="http://schemas.openxmlformats.org/drawingml/2006/main">
            <a:pPr marL="177800" indent="-177800">
              <a:lnSpc>
                <a:spcPct val="150000"/>
              </a:lnSpc>
              <a:buClrTx/>
              <a:buChar char="•"/>
            </a:pPr>
            <a:r>
              <a:rPr sz="14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核查发现监理、分包和现场管理问题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44C795BD-F246-45AF-B226-92748156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3495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风险与整改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44DD8AC-79F5-4172-94C7-B978C7B3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794000"/>
            <a:ext cx="508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77800" indent="-177800">
              <a:lnSpc>
                <a:spcPct val="150000"/>
              </a:lnSpc>
              <a:buClrTx/>
              <a:buChar char="•"/>
            </a:pPr>
            <a:r>
              <a:rPr sz="14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大坝主体尚未开工，不能混同为已建大坝缺陷</a:t>
            </a:r>
          </a:p>
          <a:p xmlns:a="http://schemas.openxmlformats.org/drawingml/2006/main">
            <a:pPr marL="177800" indent="-177800">
              <a:lnSpc>
                <a:spcPct val="150000"/>
              </a:lnSpc>
              <a:buClrTx/>
              <a:buChar char="•"/>
            </a:pPr>
            <a:r>
              <a:rPr sz="14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极端工况下局部边坡风险可能影响道路</a:t>
            </a:r>
          </a:p>
          <a:p xmlns:a="http://schemas.openxmlformats.org/drawingml/2006/main">
            <a:pPr marL="177800" indent="-177800">
              <a:lnSpc>
                <a:spcPct val="150000"/>
              </a:lnSpc>
              <a:buClrTx/>
              <a:buChar char="•"/>
            </a:pPr>
            <a:r>
              <a:rPr sz="14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通报评估相关边坡问题不会影响大坝</a:t>
            </a:r>
          </a:p>
          <a:p xmlns:a="http://schemas.openxmlformats.org/drawingml/2006/main">
            <a:pPr marL="177800" indent="-177800">
              <a:lnSpc>
                <a:spcPct val="150000"/>
              </a:lnSpc>
              <a:buClrTx/>
              <a:buChar char="•"/>
            </a:pPr>
            <a:r>
              <a:rPr sz="14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质量问题仍须整改，并追究相应责任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28B9B3DC-ED25-4E32-A85A-D7DEE515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1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案例结论：质量问题必须严肃处理，风险后果也必须依据证据准确表述。</a:t>
            </a:r>
          </a:p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来源：永安项目核查工作组2026年1月14日通报。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9671E-C94F-49BD-BEDB-864F934354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5d6cddc9f4ec1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8089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5AEFFE1-7A8A-49A0-9B99-BCA2FBC8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核心原则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F4358CF-3CDC-46C1-943D-CC60086F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795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600" b="1" i="0">
                <a:solidFill>
                  <a:srgbClr val="0D1326"/>
                </a:solidFill>
                <a:latin typeface="Noto Serif SC"/>
                <a:ea typeface="Noto Serif SC"/>
                <a:cs typeface="Noto Serif SC"/>
              </a:rPr>
              <a:t>工程师的首要责任与不同要求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D2D83848-3F0C-4544-9D6D-DC4BD869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540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 strike="noStrike">
                <a:solidFill>
                  <a:srgbClr val="2563EB"/>
                </a:solidFill>
                <a:latin typeface="Noto Serif SC"/>
                <a:ea typeface="Noto Serif SC"/>
                <a:cs typeface="Noto Serif SC"/>
              </a:rPr>
              <a:t>公众的安全、健康和福祉，永远排在第一位</a:t>
            </a:r>
            <a:endParaRPr sz="1100"/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6FB6E59-929D-45DD-AC79-76F3821F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3000"/>
            <a:ext cx="330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基本要求：避免指责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AE0DF80-6D2E-4A29-86EC-606CB71F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3302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遵守专业标准和伦理章程，避免不当行为及对他人的伤害。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757CA7E7-EDD3-424E-B6CD-62651C8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683000"/>
            <a:ext cx="330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进一步要求：合理关照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9B7E647-BD77-45EF-AC58-7F695CC4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4127500"/>
            <a:ext cx="3302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主动识别可预见的工程风险，采取与风险相称的防护措施。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89E644A3-6F49-424B-B3BD-91BB4D59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683000"/>
            <a:ext cx="330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超出义务的要求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A591B462-48C9-4667-A641-D1792BDC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127500"/>
            <a:ext cx="3302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在基本职责之外，为社区安全和公共事务作出建设性贡献。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CD6AF62-A9E9-4E3E-BEA6-3DBEE1F6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安全裕度应依据具体规范、工况和风险确定；教材示例不能作为统一的3倍规则。</a:t>
            </a:r>
          </a:p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首要责任还联系可持续发展、忠诚与举报，第二讲将继续说明。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B5E87-33EB-4305-87BD-B77EAA5C96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b6b3138ee4527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3173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4EEA7DF-3F19-4C47-A717-7DDA397E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处置示例 · 专业履职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424418F-7CF9-4BEB-AED1-9AB5C4CE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795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400" b="1" i="0">
                <a:solidFill>
                  <a:srgbClr val="0D1326"/>
                </a:solidFill>
                <a:latin typeface="Noto Serif SC"/>
                <a:ea typeface="Noto Serif SC"/>
                <a:cs typeface="Noto Serif SC"/>
              </a:rPr>
              <a:t>质量异常的处置：核验、控制与复核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4BB3D80-F593-4BE2-9033-B34E16DC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5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示例情境（假设）：进场材料检测不合格，部分已投入使用。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5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项目经理以工期和经济损失为由要求先签字放行。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5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专业判断应依据检测事实与安全风险，不能以进度压力代替质量标准。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5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处置需要同时考虑证据、权限、危险紧迫程度和后续整改。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9119219C-EBE1-4292-A733-75069F94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处置步骤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58DE249-A239-41E9-8A13-AFD86B75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9000"/>
            <a:ext cx="330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① 核验并保留证据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4BF588BC-41BE-4C26-9139-F3D85499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4699000"/>
            <a:ext cx="330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② 控制危险、准确报告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169F02E-B3EA-431F-8D61-EF5908D5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699000"/>
            <a:ext cx="330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 b="1" i="0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③ 整改复核、形成闭环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E503064-DF42-4817-9CAF-7406C6BF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1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分析结论：对不合格材料不能作虚假验收；应先控制危险并选择适当报告渠道。</a:t>
            </a:r>
          </a:p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内部处置无效或危险紧迫时，应及时升级，同时保留记录与复核依据。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B5B7C-B945-4019-A6EA-1811BAAF96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8439b65bf44ac7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560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326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D184CFA-3938-4026-9C63-12DDD5CF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762000"/>
            <a:ext cx="1016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第一讲 · 小结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90861E3-D5B5-43D2-9369-95929FCD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397000"/>
            <a:ext cx="1016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600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第一讲小结：专业责任如何落实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98E16B64-D3DF-42A5-BEC6-BDF85BCE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667000"/>
            <a:ext cx="1016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600" b="0" i="0">
                <a:solidFill>
                  <a:srgbClr val="CBD5E1"/>
                </a:solidFill>
                <a:latin typeface="Noto Sans SC"/>
                <a:ea typeface="Noto Sans SC"/>
                <a:cs typeface="Noto Sans SC"/>
              </a:rPr>
              <a:t>事故分析应同时考察技术缺陷、组织管理和监督条件。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510AB5E-92EE-4117-94CF-6CEA1995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048000"/>
            <a:ext cx="1016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6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责任落实依靠具体职责、可靠证据和有效行动。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0155E1D-D2B3-4A01-A686-609B92C7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937000"/>
            <a:ext cx="1016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本讲的三个要点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881A61-E397-4C64-8D79-4859778A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1. 工程职业以专业能力和公共服务为基础，承担社会信托责任。</a:t>
            </a:r>
          </a:p>
          <a:p xmlns:a="http://schemas.openxmlformats.org/drawingml/2006/main"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2. 公众的安全、健康和福祉是专业判断的重要依据。</a:t>
            </a:r>
          </a:p>
          <a:p xmlns:a="http://schemas.openxmlformats.org/drawingml/2006/main"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3. 发现异常后，应核验、控制风险、准确报告并完成整改复核。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626DD-503D-4DB1-8602-EFB7FE683B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bc8bf2be04228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3871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326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>
            <a:extLst xmlns:a="http://schemas.openxmlformats.org/drawingml/2006/main">
              <a:ext uri="{FF2B5EF4-FFF2-40B4-BE49-F238E27FC236}">
                <a16:creationId xmlns:a16="http://schemas.microsoft.com/office/drawing/2014/main" id="{5E42DD45-9176-4CC5-99DC-451194E2F6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1774e32ae4155"/>
          <a:srcRect xmlns:a="http://schemas.openxmlformats.org/drawingml/2006/main" l="0" t="2926" r="0" b="29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286000"/>
            <a:ext cx="4318000" cy="2286000"/>
          </a:xfrm>
          <a:prstGeom xmlns:a="http://schemas.openxmlformats.org/drawingml/2006/main" prst="roundRect">
            <a:avLst>
              <a:gd name="adj" fmla="val 6666"/>
            </a:avLst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EBE339D-54CF-4B03-8CE0-F41B704A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80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工程伦理 · 第5章 · 第二讲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91946012-A4D8-4F03-A3E0-37D9703B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0000"/>
            <a:ext cx="5842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伦理冲突与科技时代责任</a:t>
            </a:r>
            <a:endParaRPr sz="1100"/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81C1314-CF6B-4DE2-8520-C7F1B307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334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3000"/>
              </a:lnSpc>
              <a:buNone/>
            </a:pPr>
            <a:r>
              <a:rPr sz="1800" b="1" i="0">
                <a:solidFill>
                  <a:srgbClr val="CBD5E1"/>
                </a:solidFill>
                <a:latin typeface="Noto Serif SC"/>
                <a:ea typeface="Noto Serif SC"/>
                <a:cs typeface="Noto Serif SC"/>
              </a:rPr>
              <a:t>从AI幻觉到利益冲突，</a:t>
            </a:r>
          </a:p>
          <a:p xmlns:a="http://schemas.openxmlformats.org/drawingml/2006/main">
            <a:pPr marL="0" indent="0">
              <a:lnSpc>
                <a:spcPct val="133000"/>
              </a:lnSpc>
              <a:buNone/>
            </a:pPr>
            <a:r>
              <a:rPr sz="1800" b="1" i="0">
                <a:solidFill>
                  <a:srgbClr val="CBD5E1"/>
                </a:solidFill>
                <a:latin typeface="Noto Serif SC"/>
                <a:ea typeface="Noto Serif SC"/>
                <a:cs typeface="Noto Serif SC"/>
              </a:rPr>
              <a:t>理解专业判断与责任边界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09D35860-9556-4FA1-A76F-BD6C81AF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9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河南师范大学研究生课程讲授 ｜ 课堂时长：45分钟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6D169-451B-4362-BFEF-809CC5E136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771e6094b41a7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1463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326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8A1CF8F-7DE9-497C-AAA5-F34472A7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016000"/>
            <a:ext cx="1016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第二讲 · 责任边界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186978B-E021-4FA9-8011-AEC22CAA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905000"/>
            <a:ext cx="1016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7000"/>
              </a:lnSpc>
              <a:buNone/>
            </a:pPr>
            <a:r>
              <a:rPr sz="3600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AI生成错误信息，</a:t>
            </a:r>
          </a:p>
          <a:p xmlns:a="http://schemas.openxmlformats.org/drawingml/2006/main">
            <a:pPr marL="0" indent="0">
              <a:lnSpc>
                <a:spcPct val="117000"/>
              </a:lnSpc>
              <a:buNone/>
            </a:pPr>
            <a:r>
              <a:rPr sz="3600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责任应结合具体事实判断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ED6709E0-83CE-4EE2-933E-3D52F168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826000"/>
            <a:ext cx="9652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6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技术层面：生成内容可能存在错误，应说明局限并提高可靠性。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6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法律层面：责任认定须结合注意义务、损害及因果关系。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6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伦理层面：工程团队仍应采取与可预见风险相称的预防措施。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55AD3-2299-4C3A-A6CE-069D57978C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60f4f0efe4907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519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7FA24DA-F30A-4BC5-9DC1-AAFD81A2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知识梳理 · 权利与责任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C3CFC65-38FB-4FC2-8CBE-BE474F8D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795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600" b="1" i="0">
                <a:solidFill>
                  <a:srgbClr val="0D1326"/>
                </a:solidFill>
                <a:latin typeface="Noto Serif SC"/>
                <a:ea typeface="Noto Serif SC"/>
                <a:cs typeface="Noto Serif SC"/>
              </a:rPr>
              <a:t>工程师的职业权利与责任视角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24C0B83-0954-4EB1-8852-66955A66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八项职业权利</a:t>
            </a:r>
            <a:endParaRPr sz="1100"/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BDA03E93-4A16-4281-A077-FD522FBE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0500"/>
            <a:ext cx="5080000" cy="27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58000"/>
              </a:lnSpc>
              <a:buNone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1. 使用注册职业名称</a:t>
            </a:r>
          </a:p>
          <a:p xmlns:a="http://schemas.openxmlformats.org/drawingml/2006/main">
            <a:pPr marL="0" indent="0">
              <a:lnSpc>
                <a:spcPct val="158000"/>
              </a:lnSpc>
              <a:buNone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2. 在规定范围内从事执业活动</a:t>
            </a:r>
          </a:p>
          <a:p xmlns:a="http://schemas.openxmlformats.org/drawingml/2006/main">
            <a:pPr marL="0" indent="0">
              <a:lnSpc>
                <a:spcPct val="158000"/>
              </a:lnSpc>
              <a:buNone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3. 对本人执业文件签字并加盖执业印章</a:t>
            </a:r>
          </a:p>
          <a:p xmlns:a="http://schemas.openxmlformats.org/drawingml/2006/main">
            <a:pPr marL="0" indent="0">
              <a:lnSpc>
                <a:spcPct val="158000"/>
              </a:lnSpc>
              <a:buNone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4. 保管和使用本人注册证书、执业印章</a:t>
            </a:r>
          </a:p>
          <a:p xmlns:a="http://schemas.openxmlformats.org/drawingml/2006/main">
            <a:pPr marL="0" indent="0">
              <a:lnSpc>
                <a:spcPct val="158000"/>
              </a:lnSpc>
              <a:buNone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5. 对执业活动进行解释和辩护</a:t>
            </a:r>
          </a:p>
          <a:p xmlns:a="http://schemas.openxmlformats.org/drawingml/2006/main">
            <a:pPr marL="0" indent="0">
              <a:lnSpc>
                <a:spcPct val="158000"/>
              </a:lnSpc>
              <a:buNone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6. 接受继续教育</a:t>
            </a:r>
          </a:p>
          <a:p xmlns:a="http://schemas.openxmlformats.org/drawingml/2006/main">
            <a:pPr marL="0" indent="0">
              <a:lnSpc>
                <a:spcPct val="158000"/>
              </a:lnSpc>
              <a:buNone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7. 获得相应劳动报酬</a:t>
            </a:r>
          </a:p>
          <a:p xmlns:a="http://schemas.openxmlformats.org/drawingml/2006/main">
            <a:pPr marL="0" indent="0">
              <a:lnSpc>
                <a:spcPct val="158000"/>
              </a:lnSpc>
              <a:buNone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8. 对侵犯本人权利的行为提出申诉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E6E8C0F-734B-4888-AD6C-D55C61A2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2860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三种责任视角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BEDB657-13FC-4DE8-8E37-C0824E56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730500"/>
            <a:ext cx="5080000" cy="27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58000"/>
              </a:lnSpc>
              <a:buNone/>
            </a:pPr>
            <a:r>
              <a:rPr sz="1300" b="1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义务责任：</a:t>
            </a: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遵守并积极落实专业标准，预防伤害。</a:t>
            </a:r>
          </a:p>
          <a:p xmlns:a="http://schemas.openxmlformats.org/drawingml/2006/main">
            <a:pPr marL="0" indent="0">
              <a:lnSpc>
                <a:spcPct val="158000"/>
              </a:lnSpc>
              <a:buNone/>
            </a:pPr>
            <a:r>
              <a:rPr sz="1300" b="1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过失责任：</a:t>
            </a: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就疏忽或不当行为造成的伤害承担责任。</a:t>
            </a:r>
          </a:p>
          <a:p xmlns:a="http://schemas.openxmlformats.org/drawingml/2006/main">
            <a:pPr marL="0" indent="0">
              <a:lnSpc>
                <a:spcPct val="158000"/>
              </a:lnSpc>
              <a:buNone/>
            </a:pPr>
            <a:r>
              <a:rPr sz="1300" b="1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角色责任：</a:t>
            </a: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履行岗位应尽职责，就相应失职负责。</a:t>
            </a:r>
          </a:p>
          <a:p xmlns:a="http://schemas.openxmlformats.org/drawingml/2006/main">
            <a:pPr marL="0" indent="0">
              <a:lnSpc>
                <a:spcPct val="158000"/>
              </a:lnSpc>
              <a:buNone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/>
            </a:r>
          </a:p>
          <a:p xmlns:a="http://schemas.openxmlformats.org/drawingml/2006/main">
            <a:pPr marL="0" indent="0">
              <a:lnSpc>
                <a:spcPct val="158000"/>
              </a:lnSpc>
              <a:buNone/>
            </a:pPr>
            <a:r>
              <a:rPr sz="1300" b="0" i="1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三种视角并非递进层级，责任范围须结合岗位、权限和事实。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C3C0E-BD14-4F8B-917E-D4D103D2E3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ce07d3b6a4921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5375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E23EEFD-DE99-40EE-B803-28D30C10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知识梳理 · 职业美德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104CF6E-114F-4AA2-AE56-4594CA9F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795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600" b="1" i="0">
                <a:solidFill>
                  <a:srgbClr val="0D1326"/>
                </a:solidFill>
                <a:latin typeface="Noto Serif SC"/>
                <a:ea typeface="Noto Serif SC"/>
                <a:cs typeface="Noto Serif SC"/>
              </a:rPr>
              <a:t>工程师的三个核心职业美德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7D08F7D-E46A-4C3E-AEED-3B8ADB6A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540000"/>
            <a:ext cx="101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01</a:t>
            </a:r>
            <a:endParaRPr sz="1100"/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9377DEFF-B4CC-46FF-80D6-C174C226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000" y="2540000"/>
            <a:ext cx="939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</a:rPr>
              <a:t>诚实可靠</a:t>
            </a:r>
            <a:endParaRPr sz="1100"/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A08C071D-5056-4618-A7E5-B6089647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000" y="3111500"/>
            <a:ext cx="939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4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准确报告事实、数据和不确定性，不夸大、不歪曲、不隐瞒风险。</a:t>
            </a:r>
          </a:p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4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适用于实验记录、模型评估、论文署名与工程验收。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6DD46F36-603D-4D6F-AE5F-AE92479B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01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02</a:t>
            </a:r>
            <a:endParaRPr sz="1100"/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9B0B9B00-814A-42BC-B2CB-0AD93FFC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000" y="4064000"/>
            <a:ext cx="939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</a:rPr>
              <a:t>尽职尽责</a:t>
            </a:r>
            <a:endParaRPr sz="1100"/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0921DF1-FB8B-47B5-93B1-00557B4A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000" y="4635500"/>
            <a:ext cx="939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4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在胜任范围内提供服务，发现异常及时核查、记录并报告。</a:t>
            </a:r>
          </a:p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4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持续更新知识，确保专业意见有能力与证据支持。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1A55799-6C59-4CE1-AE84-ED8FD58F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588000"/>
            <a:ext cx="101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03</a:t>
            </a:r>
            <a:endParaRPr sz="1100"/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4702880B-BFC3-4FF3-8DCD-09C0F7A5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000" y="5588000"/>
            <a:ext cx="939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 strike="noStrike">
                <a:solidFill>
                  <a:srgbClr val="0D1326"/>
                </a:solidFill>
                <a:latin typeface="Noto Sans SC"/>
                <a:ea typeface="Noto Sans SC"/>
                <a:cs typeface="Noto Sans SC"/>
              </a:rPr>
              <a:t>忠实服务</a:t>
            </a:r>
            <a:endParaRPr sz="1100"/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CA4B8DC0-EAFB-4E76-8BA9-42738FC0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000" y="6159500"/>
            <a:ext cx="939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诚实服务公众、雇主与客户，在公共风险面前保持独立的专业判断。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1F220-ACB6-41F2-9184-F7A7DC8FB3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754cfff7f4f11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08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8A41CA84-E116-4187-9C56-77B98280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知识梳理 · 伦理冲突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9F89435-9140-461D-8C04-FA6D8EF0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795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600" b="1" i="0">
                <a:solidFill>
                  <a:srgbClr val="0D1326"/>
                </a:solidFill>
                <a:latin typeface="Noto Serif SC"/>
                <a:ea typeface="Noto Serif SC"/>
                <a:cs typeface="Noto Serif SC"/>
              </a:rPr>
              <a:t>三种伦理冲突及其处理方向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99C3601-3E9C-43D4-816B-9554BEAC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667000"/>
            <a:ext cx="279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角色冲突</a:t>
            </a:r>
            <a:endParaRPr sz="1100"/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72929288-A63D-482D-A1A2-D22ABEC4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175000"/>
            <a:ext cx="2794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雇员职责与专业判断不一致。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应明确岗位责任，保持专业独立，并寻求复核与专业支持。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C601123-27A2-44A3-BB9D-2ADCBB06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2667000"/>
            <a:ext cx="279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利益冲突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1401E8FE-249C-47D8-A495-6240B306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3175000"/>
            <a:ext cx="2794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私人利益影响评审或验收。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应拒绝或放弃不当利益，主动披露，并在必要时回避。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E0B1A241-C5F1-4A4E-939E-94790024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79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责任冲突</a:t>
            </a:r>
            <a:endParaRPr sz="1100"/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E35D9A72-3422-4512-B1FC-5D6A8807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75000"/>
            <a:ext cx="2794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保密、进度与公众安全相互牵制。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应比较权利和风险，提出可行的替代行动方案。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2D97C4D7-C124-40E2-B8E1-9A9CDB1D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分析要点：三类冲突可能重叠，处理应结合具体事实、职责和证据。</a:t>
            </a:r>
          </a:p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伦理判断既要澄清价值，也要落实到可执行的行动。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42FAD-C8CF-4290-94B2-B16787690F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ef31cadec48a3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3500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D1326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2">
            <a:extLst xmlns:a="http://schemas.openxmlformats.org/drawingml/2006/main">
              <a:ext uri="{FF2B5EF4-FFF2-40B4-BE49-F238E27FC236}">
                <a16:creationId xmlns:a16="http://schemas.microsoft.com/office/drawing/2014/main" id="{8045B069-BC60-49E2-865D-EFC7AE4448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ee6d930624eb3"/>
          <a:srcRect xmlns:a="http://schemas.openxmlformats.org/drawingml/2006/main" l="0" t="326" r="0" b="3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032000"/>
            <a:ext cx="4318000" cy="2413000"/>
          </a:xfrm>
          <a:prstGeom xmlns:a="http://schemas.openxmlformats.org/drawingml/2006/main" prst="roundRect">
            <a:avLst>
              <a:gd name="adj" fmla="val 6315"/>
            </a:avLst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B843339-4222-40E5-BAFF-200D1DFD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90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案例分析 · AI 时代（一）</a:t>
            </a:r>
            <a:endParaRPr sz="1100"/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834495F-E544-4B22-9542-46EB6998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3200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AI幻觉引发侵权诉讼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A6EFD441-9C48-4767-A84B-895A940A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5334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3200" b="1" i="0">
                <a:solidFill>
                  <a:srgbClr val="EF4444"/>
                </a:solidFill>
                <a:latin typeface="Noto Serif SC"/>
                <a:ea typeface="Noto Serif SC"/>
                <a:cs typeface="Noto Serif SC"/>
              </a:rPr>
              <a:t>判决与预防要求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226F3BDB-262D-40A8-9103-46BB7555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53340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2025年6月，AI生成错误高校信息及10万元赔偿承诺。</a:t>
            </a:r>
          </a:p>
          <a:p xmlns:a="http://schemas.openxmlformats.org/drawingml/2006/main"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用户提起侵权诉讼，实际请求赔偿9999元。</a:t>
            </a:r>
          </a:p>
          <a:p xmlns:a="http://schemas.openxmlformats.org/drawingml/2006/main"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法院驳回诉讼请求，双方未上诉，判决已生效。</a:t>
            </a:r>
          </a:p>
          <a:p xmlns:a="http://schemas.openxmlformats.org/drawingml/2006/main"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本案认定已尽合理注意义务，损害与因果关系未获证明。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89C396DC-1A29-4791-8336-5F34FFB8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来源：人民法院报案例解读，2026年1月；右图为原课件AI示意配图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05465-EA2C-4D16-A429-5479BF5127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028dc7d86466e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8336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E11D831-42CC-4127-B349-53F7753C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工程情境 · 可持续发展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CB253D4-39DD-403A-AE0A-7BAD9162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795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400" b="1" i="0">
                <a:solidFill>
                  <a:srgbClr val="0D1326"/>
                </a:solidFill>
                <a:latin typeface="Noto Serif SC"/>
                <a:ea typeface="Noto Serif SC"/>
                <a:cs typeface="Noto Serif SC"/>
              </a:rPr>
              <a:t>可持续发展：AI算力项目的选址审查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B53F7765-657E-442E-AED8-B268E31A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95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示例情境（假设）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7FE47658-72B7-4ACA-97AB-A3669013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4000"/>
            <a:ext cx="5080000" cy="2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某地拟引入数据中心，增加投资与就业</a:t>
            </a:r>
          </a:p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项目同时增加用电、用水和基础设施需求</a:t>
            </a:r>
          </a:p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居民关注资源分配与生活环境</a:t>
            </a:r>
          </a:p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不同选址和技术方案的影响需要评估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D31D9C95-503B-42ED-BECA-710F4BDB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3495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审查与改进方向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23B3C7A6-CCE3-41EB-868A-BAE820CF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794000"/>
            <a:ext cx="5080000" cy="2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评估全生命周期的能耗、水耗和环境影响</a:t>
            </a:r>
          </a:p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分析收益与成本在不同群体间的分配</a:t>
            </a:r>
          </a:p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兼顾长期影响和后代利益</a:t>
            </a:r>
          </a:p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比较选址、节能、监测及补偿方案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D7244C-058E-42E5-A8D0-5FA4345B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15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300" b="0" i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讲解结论：不能仅以短期收益或单一环境指标决定方案，应比较长期影响与替代方案。</a:t>
            </a:r>
          </a:p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300" b="0" i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教材依据：5.3.1可持续发展；本页不指向具体项目。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5EDEE7-DB3B-4485-8529-F4FFCA317E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715497dd34bae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986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B5E7C7-5101-448C-9B9C-25A207EE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原则讲解 · 忠诚与举报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3C94F1F7-BB35-40FA-B9C8-FA64D8B0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795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400" b="1" i="0">
                <a:solidFill>
                  <a:srgbClr val="0D1326"/>
                </a:solidFill>
                <a:latin typeface="Noto Serif SC"/>
                <a:ea typeface="Noto Serif SC"/>
                <a:cs typeface="Noto Serif SC"/>
              </a:rPr>
              <a:t>忠诚与举报：必要的报告与升级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94CE601B-7A35-4A67-955E-BBD4D964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9500"/>
            <a:ext cx="10668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5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示例情境（假设）：测试发现重大安全隐患，内部报告后被要求先上线、暂缓记录。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5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职业忠诚要求诚实服务；发现公共风险时，应以证据为基础采取必要行动。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7E93830-2EBB-4214-BFF2-87E80E75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30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忠诚与保密的边界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64A927E5-13BB-4F70-9F0A-680CB1EF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08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如实记录问题，核实影响范围和风险紧迫程度</a:t>
            </a:r>
          </a:p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保护商业秘密，避免无关信息扩散</a:t>
            </a:r>
          </a:p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不能以保密或进度要求阻止必要的风险处置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716CFB42-464B-454C-9127-91412F1F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6830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报告与升级的顺序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15E4EDB6-E2D9-4A92-B9EA-1F6F6431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127500"/>
            <a:ext cx="508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通常先通过内部渠道报告，寻求复核和专业意见</a:t>
            </a:r>
          </a:p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内部处置无效或危险紧迫时，及时选择适当升级渠道</a:t>
            </a:r>
          </a:p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围绕必要风险信息报告，保留证据并跟踪处理结果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E49A744B-5F25-44A5-B9D0-95E4FF82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教材依据：5.3.1忠诚与举报；紧急危险不应等待常规程序耗尽。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ED792-C019-4216-A89E-503B94339C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d40aa19f4444d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173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F13AC48-A286-4683-B2B1-8B791902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案例分析 · 利益冲突</a:t>
            </a: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015151F-A2C9-40A1-9C6A-F8BC9392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795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400" b="1" i="0">
                <a:solidFill>
                  <a:srgbClr val="0D1326"/>
                </a:solidFill>
                <a:latin typeface="Noto Serif SC"/>
                <a:ea typeface="Noto Serif SC"/>
                <a:cs typeface="Noto Serif SC"/>
              </a:rPr>
              <a:t>利益冲突与监理的独立判断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8B2164A-313D-45CA-A7C8-6420A274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95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案例事实与伦理风险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BDC3B93B-868D-46FB-8055-5639D24C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4000"/>
            <a:ext cx="508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永安项目通报确认部分监理人员接受施工企业宴请</a:t>
            </a:r>
          </a:p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私人利益可能影响验收、评审及风险报告</a:t>
            </a:r>
          </a:p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存在利益冲突，不等于已证明每项判断受到影响</a:t>
            </a:r>
          </a:p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仍需采取处置，维护判断的独立性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D880BFC-A0FA-48B5-A9B4-6B1E74A0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349500"/>
            <a:ext cx="508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处理方法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87BDCE9-D4C3-4C24-8454-F71C2899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794000"/>
            <a:ext cx="508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拒绝或放弃可能影响判断的不当利益</a:t>
            </a:r>
          </a:p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主动披露利益关系，必要时不参与或退出</a:t>
            </a:r>
          </a:p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由无相关利益的人员进行独立复核</a:t>
            </a:r>
          </a:p>
          <a:p xmlns:a="http://schemas.openxmlformats.org/drawingml/2006/main"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/>
                <a:ea typeface="Noto Sans SC"/>
                <a:cs typeface="Noto Sans SC"/>
              </a:rPr>
              <a:t>记录判断依据，并落实后续整改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9C88760-C6DA-4E82-AFEA-24358A4F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1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分析结论：自认为客观不能代替利益披露与回避，专业独立需要程序保障。</a:t>
            </a:r>
          </a:p>
          <a:p xmlns:a="http://schemas.openxmlformats.org/drawingml/2006/main">
            <a:pPr marL="0" indent="0">
              <a:lnSpc>
                <a:spcPct val="142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事实依据：永安项目2026年1月通报；处理框架：教材第125页。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9E0CF-BE7E-4FAC-BEEB-71FE027B51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d46d00bd54543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1643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03A7BD1-C762-460B-B8F4-846C59DF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方法工具 · 伦理决策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4C5AF3D-44C2-41DE-8055-C372C42B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795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600" b="1" i="0">
                <a:solidFill>
                  <a:srgbClr val="0D1326"/>
                </a:solidFill>
                <a:latin typeface="Noto Serif SC"/>
                <a:ea typeface="Noto Serif SC"/>
                <a:cs typeface="Noto Serif SC"/>
              </a:rPr>
              <a:t>伦理决策的四项审查与替代方案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3ADE0CC-F395-4452-8370-F459CCF6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540000"/>
            <a:ext cx="101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200" b="1" i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C4CAF4F-BB42-4BEF-A1E4-FB5D9B3E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000" y="2540000"/>
            <a:ext cx="939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600" b="0" i="0">
                <a:solidFill>
                  <a:srgbClr val="0D1326"/>
                </a:solidFill>
                <a:latin typeface="Noto Sans SC"/>
                <a:ea typeface="Noto Sans SC"/>
                <a:cs typeface="Noto Sans SC"/>
              </a:rPr>
              <a:t>个人利益：澄清自身利益及潜在冲突，避免利益掩盖专业判断。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43A1340-45CF-4D38-B27A-07E020C8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365500"/>
            <a:ext cx="101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200" b="1" i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24285391-4B0C-40E5-A485-218DA3F4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000" y="3365500"/>
            <a:ext cx="939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600" b="0" i="0">
                <a:solidFill>
                  <a:srgbClr val="0D1326"/>
                </a:solidFill>
                <a:latin typeface="Noto Sans SC"/>
                <a:ea typeface="Noto Sans SC"/>
                <a:cs typeface="Noto Sans SC"/>
              </a:rPr>
              <a:t>社会影响：分析不同群体的收益与风险，兼顾短期和长期后果。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0338E9A-E7A2-455F-9989-ABC128C2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191000"/>
            <a:ext cx="101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200" b="1" i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EDE564D2-3221-40CD-A165-746FDB43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000" y="4191000"/>
            <a:ext cx="939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600" b="0" i="0">
                <a:solidFill>
                  <a:srgbClr val="0D1326"/>
                </a:solidFill>
                <a:latin typeface="Noto Sans SC"/>
                <a:ea typeface="Noto Sans SC"/>
                <a:cs typeface="Noto Sans SC"/>
              </a:rPr>
              <a:t>公平与权利：审查分配是否公平，判断是否侵害相关主体的权利。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EFAD8B8-DFDF-4657-9E63-B0B82C84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016500"/>
            <a:ext cx="101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200" b="1" i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ADB4CCD9-1A37-40FF-9115-2C7CFEB9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000" y="5016500"/>
            <a:ext cx="939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600" b="0" i="0">
                <a:solidFill>
                  <a:srgbClr val="0D1326"/>
                </a:solidFill>
                <a:latin typeface="Noto Sans SC"/>
                <a:ea typeface="Noto Sans SC"/>
                <a:cs typeface="Noto Sans SC"/>
              </a:rPr>
              <a:t>承诺与职责：辨明合同、保密及专业义务，说明发生冲突时的理由。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9206242-5B73-4F1B-94D1-47F381B5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9000"/>
            <a:ext cx="10668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审查之后比较至少两种可行方案，明确证据、行动次序和复核条件。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84775-135F-466C-A008-EE53C0804C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64c78201f4522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9032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D1326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2560A16-B002-4C1B-8104-1FA2C2AD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762000"/>
            <a:ext cx="1016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3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第二讲 · 小结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0DC531B-B0B4-4DA8-9E89-DB09069C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397000"/>
            <a:ext cx="1016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2600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第二讲小结：证据、职责与独立判断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E3486792-766F-4CFF-A1EA-66B34C6F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667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600" b="0" i="0">
                <a:solidFill>
                  <a:srgbClr val="CBD5E1"/>
                </a:solidFill>
                <a:latin typeface="Noto Sans SC"/>
                <a:ea typeface="Noto Sans SC"/>
                <a:cs typeface="Noto Sans SC"/>
              </a:rPr>
              <a:t>责任边界取决于可预见风险、具体职责、权限与合理措施。</a:t>
            </a:r>
          </a:p>
          <a:p xmlns:a="http://schemas.openxmlformats.org/drawingml/2006/main">
            <a:pPr marL="0" indent="0">
              <a:lnSpc>
                <a:spcPct val="150000"/>
              </a:lnSpc>
              <a:buNone/>
            </a:pPr>
            <a:r>
              <a:rPr sz="1600" b="0" i="0">
                <a:solidFill>
                  <a:srgbClr val="CBD5E1"/>
                </a:solidFill>
                <a:latin typeface="Noto Sans SC"/>
                <a:ea typeface="Noto Sans SC"/>
                <a:cs typeface="Noto Sans SC"/>
              </a:rPr>
              <a:t>从桥梁到AI，技术形态变化，专业判断的公共责任持续存在。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A89FD627-CF4E-4DAE-94AB-514ADF43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492500"/>
            <a:ext cx="1016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600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公众的安全、健康和福祉，始终是重要的职业伦理依据。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2B65D9E2-A709-4886-BAD5-DA383ADD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318000"/>
            <a:ext cx="1016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本讲的三个要点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38C46AA-122F-497D-9B87-7D41E553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826000"/>
            <a:ext cx="1016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1. 伦理冲突应结合事实与职责，比较可行的替代方案。</a:t>
            </a:r>
          </a:p>
          <a:p xmlns:a="http://schemas.openxmlformats.org/drawingml/2006/main"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2. 诚实报告、利益披露和适当升级，支持独立履职。</a:t>
            </a:r>
          </a:p>
          <a:p xmlns:a="http://schemas.openxmlformats.org/drawingml/2006/main"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3. 工程师与组织共同落实风险预防，并持续改进专业实践。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E1F40-3885-4470-96AF-4E5F45680A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5ace8505c45a0"/>
          <a:stretch xmlns:a="http://schemas.openxmlformats.org/drawingml/2006/main"/>
        </p:blipFill>
        <p:spPr>
          <a:xfrm xmlns:a="http://schemas.openxmlformats.org/drawingml/2006/main">
            <a:off x="10496550" y="211180"/>
            <a:ext cx="1047750" cy="7015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56831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2026-10-13T14:14:51.8760000Z</dcterms:created>
  <dcterms:modified xsi:type="dcterms:W3CDTF">2026-10-13T14:14:51.8760000Z</dcterms:modified>
</coreProperties>
</file>