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custDataLst>
    <p:tags r:id="rId30"/>
  </p:custDataLst>
  <p:defaultTextStyle>
    <a:defPPr marR="0" algn="l">
      <a:lnSpc>
        <a:spcPct val="100000"/>
      </a:lnSpc>
      <a:spcBef>
        <a:spcPts val="0"/>
      </a:spcBef>
      <a:spcAft>
        <a:spcPts val="0"/>
      </a:spcAft>
      <a:buNone/>
    </a:defPPr>
    <a:lvl1pPr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buNone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gs" Target="tags/tag2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第一讲45分钟，采用直接讲授方式。先说明工程职业与一般工作的区别，再结合尖扎大桥、永安电站案例讲解公众安全、职责链和质量异常处置。第2—3页导入5分钟，第4—5页概念与制度8分钟，第6—8页案例分析14分钟，第9页首要责任5分钟，第10页处置示例10分钟，第11页小结3分钟。无需安排课前阅读、投票或分组活动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本页作为全课目录，由教师用约2分钟说明两讲的逻辑。第一讲从职业性质走向公众安全，第二讲从职业权利和美德走向伦理冲突及责任边界。直接说明课程内容，不检查预习、不要求学生回答。保留原双栏布局和各文本框位置，目录采用深蓝背景，与浅色正文形成清晰区分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用三聚氰胺这一教材引导案例说明，专业知识能够被用于保障安全，也可能被不当使用。随后转向尖扎大桥：事故通常由多个环节失效共同促成，不能简单归因为技术不足或某个人的道德选择。依次讲解技术、组织和专业履职三个分析层面，后续以事故调查报告说明具体事实。本页直接给出分析框架，不留口头回答环节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https://www.mem.gov.cn/xw/zhsgxx/202604/t20260408_599563.shtml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参照教材印刷页110—114，解释职业不只是获得报酬的一份工作。专业训练形成能力，职业共同体建立标准和伦理章程，公共服务赋予职业社会信任。社团自治不意味着不受监管，服务雇主也不排除公共责任。依照源文件三栏顺序逐项讲解，最后辨明职业、行业、产业的侧重点，无需将标题作为课堂问答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教材印刷页112—113介绍典型注册执业制度。依次讲解五个环节的功能：教育建立知识，实践检验能力，考试提供资格评价，注册明确执业范围，继续教育支持持续胜任。具体准入、考试和注册要求因专业、资格类别而异，不能宣称所有工程岗位都必须经过同一套持证程序。原编号列表保留，适用边界在讲述和备注中明确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官方事故调查报告的伤亡口径为13人死亡、3人失联，不应合并成16人死亡。约41%指螺栓承载能力总体下降，不能等同为某项抗拉强度下降。直接原因还涉及分配梁制作安装质量及张拉受力条件。用本页说明材料质量、结构制作、验收和管理共同组成安全防线。右图仅为源课件场景配图，不能作为事故细节的证据。保留原深色背景、红白标题和图片位置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https://www.mem.gov.cn/xw/zhsgxx/202604/t20260408_599563.shtml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https://www.mem.gov.cn/xw/zhsgxx/202604/W020260408816062632654.pdf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沿用源课件四栏，依次讲解采购、施工、监理和设计如何获取证据、履行职责。四栏是便于理解的职责归纳，不替代官方报告中的法律责任认定。下方补充建设管理和行业监管，避免把组织问题都归到个人道德。原课堂讨论区改为总结说明，由教师连续讲解责任链和信息链之间的联系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https://www.mem.gov.cn/xw/zhsgxx/202604/t20260408_599563.shtml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https://www.mem.gov.cn/xw/zhsgxx/202604/W020260408816062632654.pdf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官方核查对质量问题作了确认，也界定了风险范围：大坝主体尚未开工，相关边坡问题在极端工况下可能导致局部塌方和道路受阻，不会影响大坝。原课件的70%和不足2米属于媒体层面的叙述，主页面不混写为官方认定。用本案例讲明事实、风险推断和损害后果的区别。质量问题严重程度不能靠夸大后果来增强。保留源文件的两栏结构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https://fjb.nea.gov.cn/xxgk/gkml/202601/P020260114564238901721.pdf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参照教材印刷页116、118—119，保留公众安全、健康和福祉优先的核心原则。解释避免指责、合理关照和超出义务三个层次的不同要求：遵守底线、预防可预见风险、在基本职责之外贡献公共福祉。教材1000磅负载按3000磅设计是帮助理解安全裕度的示例，不能套用于所有工程。超出义务不等于人人必须承担无限责任。本页不安排回答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本页为教学假设，由教师完整演示处置过程。首先核验检测方法、材料批次、使用位置和报告，保留原始记录；其次评估风险紧迫程度，在权限范围内控制危险作业，并向有职责的主体准确报告；随后通过整改和独立复核决定是否恢复工作，形成闭环。拒绝虚假验收不意味着仅凭个人意愿作所有决定，具体措施要与权限、规范和现场风险相匹配。不进行A/B/C投票或角色辩论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用3分钟总结第一讲。回顾职业的公共责任、事故的多环节成因及质量异常的处置顺序，承接第二讲的权利、伦理冲突和责任边界。不能把所有事故解释为工程师都选择低头，也不能仅凭事故后果推断每个人事先知道风险。保留源文件深色总结页和三条总结结构，不设置离堂任务或课堂反馈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https://www.mem.gov.cn/xw/zhsgxx/202604/t20260408_599563.shtml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第二讲45分钟，仍采用直接讲授。第13页导入3分钟，第14—15页权利、责任与美德7分钟，第16页冲突分类4分钟，第17页AI案例8分钟，第18页可持续发展6分钟，第19—20页举报与利益冲突8分钟，第21页决策工具6分钟，第22页小结3分钟。保留源课件右侧AI配图和深色分讲封面，删去课前预习和翻转课堂标识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区分AI生成错误、法律侵权认定和工程伦理要求。生成式系统输出虚假信息，不自动意味着它具有人的故意欺骗意图，也不自动导致每位工程师个人承担法律责任。法律责任要依据具体案件事实；伦理要求则引导团队主动识别风险、说明局限、改善核验和反馈。由教师给出三个层面的区别，随后用生效裁判解释，不安排学生判断谁的错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https://www.zjwx.gov.cn/col/col1673574/art/2026/art_1def58944910459e94f5a04d04c67332.html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教材印刷页120—121，恢复源课件左侧八项权利的完整列表，以右侧三种责任视角相对应。注册名称、签字盖章等权利需结合具体资格与执业范围理解。义务责任强调预防与落实标准，过失责任追究疏忽造成的伤害，角色责任关注岗位应尽职责。三者不构成从小到大逐级加码的三层，也不能解释为承担角色的一切后果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保留源课件纵向01、02、03的结构，依次说明诚实可靠、尽职尽责和忠实服务。用研究生日常科研联系工程伦理：如实保存原始实验记录，明确模型评价局限，正确安排署名，不把不利结果隐藏起来。尽职要求在胜任范围内提供服务，同时持续提升能力。忠实服务并非服从一切要求，遇到公共风险仍需保持独立判断。本页由教师列举实例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参照教材印刷页123—127，按照源文件三栏结构讲角色、利益和责任冲突。角色冲突关注身份职责之间的张力，利益冲突关注私人利益对专业判断的影响，责任冲突关注不同义务难以同时满足的处境。三类可以重叠，不能仅用当事人的动机判断。逐栏补入处理方向，强调披露、回避、专业复核和替代方案。本页不要求同学选择立场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说明10万元是模型生成的赔偿承诺，实际诉讼请求是9999元。裁判已生效，法院结合注意义务、实际损害和因果关系作出判断。不能据此推出所有AI错误都免责，更不能当然把平台责任等同为每位研发人员的责任。工程预防仍有必要：显著说明功能局限，重要信息提供来源核验，针对高风险用途设置复核与反馈机制。右侧为源课件AI示意图，不是案件证据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https://www.zjwx.gov.cn/col/col1673574/art/2026/art_1def58944910459e94f5a04d04c67332.html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以教材印刷页119的可持续发展要求及126—127的选址讨论为基础。本情境是教学假设，教师依次说明经济收益、资源需求、环境影响和分配公平。应审查全生命周期及长期影响，不能预设数据中心必然有害，也不能认为投资就业会自动抵消环境风险。比较不同选址、节能技术、监测和补偿方法，再说明有条件选择的理由。原小组任务改为教师完整讲解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教材印刷页119建议通常通过组织渠道、准确记录、咨询同事、职业学会或律师；紧急情形需要及时行动。用匿名假设说明正常渠道、升级条件与必要信息范围，不能把商业泄密新闻改写成公共安全举报。忠诚不是掩盖问题，举报也不是不受限制地公开所有信息。保留源文件上方情境、下方左右两栏的结构，删除正反方辩论与面向同学的追问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官方核查确认监理接受施工企业宴请，保留与独立判断有关的事实即可。利益冲突可能影响判断，但不能仅凭冲突存在就断言所有验收结论必然错误。依据教材第125页讲拒绝、放弃、披露、不参与或退出等处理方法，再说明独立复核与记录如何恢复可信程序。沿用源文件双栏布局，由教师直接给出风险和处理方法，不安排学生讨论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https://fjb.nea.gov.cn/xxgk/gkml/202601/P020260114564238901721.pdf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教材印刷页125—127提出四问，本页用四项审查直接讲解其内容，仍保留源课件四行编号和文字位置。教师可用第18页选址情境演示：先列自身和公众利益，再看公平与权利，最后查承诺与职责。四项审查只是澄清理由，不能自动输出唯一答案，还应寻找和比较替代方案，例如教材选址案例的第三种方案。不安排课堂练习或作业提交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用3分钟总结第二讲。职业伦理不是无限扩大个人责任，也不止于良心口号。可靠判断需要事实、职责、权限和合理措施；处理冲突需要披露、复核、适当升级及替代方案。串联尖扎事故、永安核查和AI生效判决，指出技术问题与组织条件必须一起分析。恢复源文件深色总结页，取消课后任务和课堂产出要求，完成连续讲授。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依据与来源：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《工程伦理》第2版第5章，用户提供的《工程伦理 3.pdf》，印刷页109—130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https://www.zjwx.gov.cn/col/col1673574/art/2026/art_1def58944910459e94f5a04d04c67332.html</a:t>
            </a:r>
            <a:endParaRPr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校徽：https://www.htu.edu.cn/2024/0201/c21143a297660/page.htm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"/>
        <p:cNvGrpSpPr/>
        <p:nvPr/>
      </p:nvGrpSpPr>
      <p:grpSpPr/>
      <p:sp>
        <p:nvSpPr>
          <p:cNvPr id="12" name="Shape 30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"/>
        <p:cNvGrpSpPr/>
        <p:nvPr/>
      </p:nvGrpSpPr>
      <p:grpSpPr/>
      <p:sp>
        <p:nvSpPr>
          <p:cNvPr id="18" name="Shape 54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"/>
        <p:cNvGrpSpPr/>
        <p:nvPr/>
      </p:nvGrpSpPr>
      <p:grpSpPr/>
      <p:sp>
        <p:nvSpPr>
          <p:cNvPr id="24" name="Shape 59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"/>
        <p:cNvGrpSpPr/>
        <p:nvPr/>
      </p:nvGrpSpPr>
      <p:grpSpPr/>
      <p:sp>
        <p:nvSpPr>
          <p:cNvPr id="30" name="Shape 9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"/>
        <p:cNvGrpSpPr/>
        <p:nvPr/>
      </p:nvGrpSpPr>
      <p:grpSpPr/>
      <p:sp>
        <p:nvSpPr>
          <p:cNvPr id="37" name="Shape 35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"/>
        <p:cNvGrpSpPr/>
        <p:nvPr/>
      </p:nvGrpSpPr>
      <p:grpSpPr/>
      <p:sp>
        <p:nvSpPr>
          <p:cNvPr id="46" name="Shape 20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"/>
        <p:cNvGrpSpPr/>
        <p:nvPr/>
      </p:nvGrpSpPr>
      <p:grpSpPr/>
      <p:sp>
        <p:nvSpPr>
          <p:cNvPr id="51" name="Shape 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"/>
        <p:cNvGrpSpPr/>
        <p:nvPr/>
      </p:nvGrpSpPr>
      <p:grpSpPr/>
      <p:sp>
        <p:nvSpPr>
          <p:cNvPr id="55" name="Shape 43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"/>
        <p:cNvGrpSpPr/>
        <p:nvPr/>
      </p:nvGrpSpPr>
      <p:grpSpPr/>
      <p:sp>
        <p:nvSpPr>
          <p:cNvPr id="62" name="Shape 24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"/>
        <p:cNvGrpSpPr/>
        <p:nvPr/>
      </p:nvGrpSpPr>
      <p:grpSpPr/>
      <p:sp>
        <p:nvSpPr>
          <p:cNvPr id="69" name="Shape 49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"/>
        <p:cNvGrpSpPr/>
        <p:nvPr/>
      </p:nvGrpSpPr>
      <p:grpSpPr/>
      <p:sp>
        <p:nvSpPr>
          <p:cNvPr id="75" name="Shape 15"/>
          <p:cNvSpPr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hap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rmAutofit/>
          </a:bodyPr>
          <a:lstStyle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>
            <a:normAutofit/>
          </a:bodyPr>
          <a:lstStyle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8" name="Shape 3"/>
          <p:cNvSpPr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9" name="Shape 4"/>
          <p:cNvSpPr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/>
        </p:txBody>
      </p:sp>
      <p:sp>
        <p:nvSpPr>
          <p:cNvPr id="10" name="Shape 5"/>
          <p:cNvSpPr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buNone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工程伦理 · 第5章 · 第一讲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1016000" y="254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4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工程师的职业伦理</a:t>
            </a:r>
            <a:endParaRPr sz="1100"/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406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CBD5E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从工程事故看工程师的首要责任</a:t>
            </a:r>
            <a:endParaRPr sz="2200" b="1" i="0">
              <a:solidFill>
                <a:srgbClr val="CBD5E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1016000" y="584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3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河南师范大学研究生课程讲授 ｜ 课堂时长：45分钟</a:t>
            </a:r>
            <a:endParaRPr sz="13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5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AFC4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工程伦理 · 课程目录</a:t>
            </a:r>
            <a:endParaRPr sz="1200" b="0" i="0">
              <a:solidFill>
                <a:srgbClr val="AFC4D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8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课程目录与讲授重点</a:t>
            </a:r>
            <a:endParaRPr sz="28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1" i="0">
                <a:solidFill>
                  <a:srgbClr val="7CC3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第一讲：工程职业与公众安全</a:t>
            </a:r>
            <a:endParaRPr sz="1600" b="1" i="0">
              <a:solidFill>
                <a:srgbClr val="7CC3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工程职业的性质与职业制度</a:t>
            </a:r>
            <a:endParaRPr sz="1500" b="0" i="0">
              <a:solidFill>
                <a:srgbClr val="DBE7F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工程伦理章程与首要责任</a:t>
            </a:r>
            <a:endParaRPr sz="1500" b="0" i="0">
              <a:solidFill>
                <a:srgbClr val="DBE7F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尖扎大桥、永安电站案例分析</a:t>
            </a:r>
            <a:endParaRPr sz="1500" b="0" i="0">
              <a:solidFill>
                <a:srgbClr val="DBE7F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质量异常的处置与责任落实</a:t>
            </a:r>
            <a:endParaRPr sz="1500" b="0" i="0">
              <a:solidFill>
                <a:srgbClr val="DBE7F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6350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1" i="0">
                <a:solidFill>
                  <a:srgbClr val="7CC3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第二讲：伦理冲突与责任边界</a:t>
            </a:r>
            <a:endParaRPr sz="1600" b="1" i="0">
              <a:solidFill>
                <a:srgbClr val="7CC3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6350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职业权利、责任与职业美德</a:t>
            </a:r>
            <a:endParaRPr sz="1500" b="0" i="0">
              <a:solidFill>
                <a:srgbClr val="DBE7F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角色、利益与责任冲突</a:t>
            </a:r>
            <a:endParaRPr sz="1500" b="0" i="0">
              <a:solidFill>
                <a:srgbClr val="DBE7F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AI幻觉案例与可持续发展</a:t>
            </a:r>
            <a:endParaRPr sz="1500" b="0" i="0">
              <a:solidFill>
                <a:srgbClr val="DBE7F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90500" indent="-190500">
              <a:lnSpc>
                <a:spcPct val="150000"/>
              </a:lnSpc>
              <a:buClrTx/>
              <a:buChar char="•"/>
            </a:pPr>
            <a:r>
              <a:rPr sz="1500" b="0" i="0">
                <a:solidFill>
                  <a:srgbClr val="DBE7F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忠诚与举报、利益冲突及伦理决策</a:t>
            </a:r>
            <a:endParaRPr sz="1500" b="0" i="0">
              <a:solidFill>
                <a:srgbClr val="DBE7F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AFC4D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讲授线索：职业基础 → 事故案例 → 首要责任 → 冲突处理与伦理决策</a:t>
            </a:r>
            <a:endParaRPr sz="1200" b="0" i="0">
              <a:solidFill>
                <a:srgbClr val="AFC4D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1016000" y="101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3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案例导入 · 分析视角</a:t>
            </a:r>
            <a:endParaRPr sz="13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1016000" y="19050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17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从三聚氰胺到尖扎大桥，</a:t>
            </a:r>
            <a:endParaRPr sz="36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marL="0" indent="0">
              <a:lnSpc>
                <a:spcPct val="117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工程事故中的多重失效</a:t>
            </a:r>
            <a:endParaRPr sz="36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4826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技术层面：材料、设计和施工缺陷可能形成直接风险。</a:t>
            </a:r>
            <a:endParaRPr sz="16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组织层面：质量管理、验收和监督失效使风险持续积累。</a:t>
            </a:r>
            <a:endParaRPr sz="16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专业层面：工程师应依据职责和证据识别、报告并控制风险。</a:t>
            </a:r>
            <a:endParaRPr sz="16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知识梳理 · 概念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工程职业的性质与公共责任</a:t>
            </a:r>
            <a:endParaRPr sz="26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286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6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工程职业 = 专业知识与能力 + 职业自律 + 面向公众的服务</a:t>
            </a:r>
            <a:endParaRPr sz="16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6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工程师向雇主和客户提供服务，同时承担保护公众的信托责任。</a:t>
            </a:r>
            <a:endParaRPr sz="16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① 长期专业训练</a:t>
            </a:r>
            <a:endParaRPr sz="1100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4000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系统的工程教育、实践经验和能力评价，为可靠的专业判断提供基础。</a:t>
            </a:r>
            <a:endParaRPr sz="14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4445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② 职业社团自治</a:t>
            </a:r>
            <a:endParaRPr sz="1100"/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4445000" y="4000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职业共同体通过技术标准和伦理章程促进自律，同时接受法律监管和社会监督。</a:t>
            </a:r>
            <a:endParaRPr sz="14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8128000" y="355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③ 服务公众福祉</a:t>
            </a:r>
            <a:endParaRPr sz="1100"/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8128000" y="4000500"/>
            <a:ext cx="330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工程决策应关注公众安全、健康与福祉，并兼顾环境和长远影响。</a:t>
            </a:r>
            <a:endParaRPr sz="14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概念区分：行业、产业侧重经济活动与生产关系；职业侧重专业能力、社会职能和行为规范。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知识梳理 · 制度框架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注册执业制度的典型路径</a:t>
            </a:r>
            <a:endParaRPr sz="26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349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教育、实践、考试、注册与继续教育，共同支持专业能力与责任约束。</a:t>
            </a:r>
            <a:endParaRPr sz="15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1016000" y="3048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100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778000" y="3048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高校教育</a:t>
            </a: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　建立工程专业知识与能力基础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" y="3683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100"/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1778000" y="3683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职业实践</a:t>
            </a: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　积累相应领域的实践经验，满足资格条件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1016000" y="4318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100"/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1778000" y="4318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资格考试</a:t>
            </a: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　按专业和资格类别参加相应考试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1016000" y="4953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1100"/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1778000" y="4953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注册执业</a:t>
            </a: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　在核定范围内执业，并承担相应责任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>
            <a:spLocks noGrp="1"/>
          </p:cNvSpPr>
          <p:nvPr/>
        </p:nvSpPr>
        <p:spPr>
          <a:xfrm>
            <a:off x="1016000" y="5588000"/>
            <a:ext cx="76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sz="1100"/>
          </a:p>
        </p:txBody>
      </p:sp>
      <p:sp>
        <p:nvSpPr>
          <p:cNvPr id="14" name="AutoShape 14"/>
          <p:cNvSpPr>
            <a:spLocks noGrp="1"/>
          </p:cNvSpPr>
          <p:nvPr/>
        </p:nvSpPr>
        <p:spPr>
          <a:xfrm>
            <a:off x="1778000" y="5588000"/>
            <a:ext cx="965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继续教育</a:t>
            </a: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　持续更新知识与能力，满足执业要求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AutoShape 3"/>
          <p:cNvSpPr>
            <a:spLocks noGrp="1"/>
          </p:cNvSpPr>
          <p:nvPr/>
        </p:nvSpPr>
        <p:spPr>
          <a:xfrm>
            <a:off x="762000" y="889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案例分析 · 一</a:t>
            </a:r>
            <a:endParaRPr sz="1100"/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1524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3800" b="1" i="0">
                <a:solidFill>
                  <a:srgbClr val="EF444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13人死亡、3人失联</a:t>
            </a:r>
            <a:endParaRPr sz="3800" b="1" i="0">
              <a:solidFill>
                <a:srgbClr val="EF4444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2286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38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多道安全防线失效</a:t>
            </a:r>
            <a:endParaRPr sz="38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3683000"/>
            <a:ext cx="533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2025年8月22日，尖扎黄河特大桥施工项目发生重大垮塌。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劣质螺栓承载能力较国标总体下降约41%。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分配梁制作安装不合要求，验收及质量管理失效。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调查报告还指出建设、设计、监理和监管等环节的问题。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来源：应急管理部2026年4月事故调查报告；右图为原课件场景配图</a:t>
            </a:r>
            <a:endParaRPr sz="12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01970" y="2054860"/>
            <a:ext cx="6172835" cy="3326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案例分析 · 责任链拆解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事故责任链：从采购到监管</a:t>
            </a:r>
            <a:endParaRPr sz="24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采购环节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2730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核验材料来源、检测和验收记录。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材料不合格时，应拒绝放行并准确记录异常。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3556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施工环节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3556000" y="2730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按设计和工艺要求施工，核实队伍资格。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材料、制作和安装质量都应形成可查记录。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6350000" y="2286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监理环节</a:t>
            </a: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6350000" y="2730500"/>
            <a:ext cx="254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独立核验工序，及时报告异常。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旁站与验收不能仅有签字。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9144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设计环节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9144000" y="2730500"/>
            <a:ext cx="228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明确关键受力和安装要求，做好交底与复核。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临时结构及变更同样需要技术审查。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762000" y="5016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管理与监管的补充责任：</a:t>
            </a:r>
            <a:endParaRPr sz="1500" b="1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建设管理应落实分包、验收和整改闭环；监管应核查履职与重大隐患。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完整责任链同时涉及工程师、组织和监管主体，具体归责以调查结论为准。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案例分析 · 二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永安电站：质量问题与风险边界</a:t>
            </a:r>
            <a:endParaRPr sz="24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官方核查确认</a:t>
            </a:r>
            <a:endParaRPr sz="15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2794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福建永安抽水蓄能电站，总投资74.96亿元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部分坝肩边坡支护钢筋长度不符合设计要求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注浆及施工质量管理存在问题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核查发现监理、分包和现场管理问题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6350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风险与整改</a:t>
            </a:r>
            <a:endParaRPr sz="1500" b="1" i="0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6350000" y="2794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大坝主体尚未开工，不能混同为已建大坝缺陷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极端工况下局部边坡风险可能影响道路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通报评估相关边坡问题不会影响大坝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77800" indent="-177800">
              <a:lnSpc>
                <a:spcPct val="150000"/>
              </a:lnSpc>
              <a:buClrTx/>
              <a:buChar char="•"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质量问题仍须整改，并追究相应责任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案例结论：质量问题必须严肃处理，风险后果也必须依据证据准确表述。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来源：永安项目核查工作组2026年1月14日通报。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核心原则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工程师的首要责任与不同要求</a:t>
            </a:r>
            <a:endParaRPr sz="26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2540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i="0" u="none" strike="noStrike">
                <a:solidFill>
                  <a:srgbClr val="2563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公众的安全、健康和福祉，永远排在第一位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368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基本要求：避免指责</a:t>
            </a:r>
            <a:endParaRPr sz="1500" b="1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4127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遵守专业标准和伦理章程，避免不当行为及对他人的伤害。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4445000" y="368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进一步要求：合理关照</a:t>
            </a:r>
            <a:endParaRPr sz="1500" b="1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4445000" y="4127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主动识别可预见的工程风险，采取与风险相称的防护措施。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8128000" y="3683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超出义务的要求</a:t>
            </a:r>
            <a:endParaRPr sz="1500" b="1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8128000" y="41275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在基本职责之外，为社区安全和公共事务作出建设性贡献。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762000" y="552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安全裕度应依据具体规范、工况和风险确定；教材示例不能作为统一的3倍规则。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首要责任还联系可持续发展、忠诚与举报，第二讲将继续说明。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处置示例 · 专业履职</a:t>
            </a:r>
            <a:endParaRPr sz="12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质量异常的处置：核验、控制与复核</a:t>
            </a:r>
            <a:endParaRPr sz="24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286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示例情境（假设）：进场材料检测不合格，部分已投入使用。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项目经理以工期和经济损失为由要求先签字放行。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专业判断应依据检测事实与安全风险，不能以进度压力代替质量标准。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处置需要同时考虑证据、权限、危险紧迫程度和后续整改。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419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处置步骤</a:t>
            </a:r>
            <a:endParaRPr sz="15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4699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① 核验并保留证据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4445000" y="4699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② 控制危险、准确报告</a:t>
            </a:r>
            <a:endParaRPr sz="14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8128000" y="4699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1" i="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③ 整改复核、形成闭环</a:t>
            </a:r>
            <a:endParaRPr sz="1400" b="1" i="0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分析结论：对不合格材料不能作虚假验收；应先控制危险并选择适当报告渠道。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内部处置无效或危险紧迫时，应及时升级，同时保留记录与复核依据。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1016000" y="76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第一讲 · 小结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1016000" y="1397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第一讲小结：专业责任如何落实</a:t>
            </a:r>
            <a:endParaRPr sz="26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266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事故分析应同时考察技术缺陷、组织管理和监督条件。</a:t>
            </a:r>
            <a:endParaRPr sz="1600" b="0" i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1016000" y="304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责任落实依靠具体职责、可靠证据和有效行动。</a:t>
            </a:r>
            <a:endParaRPr sz="160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本讲的三个要点</a:t>
            </a:r>
            <a:endParaRPr sz="15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" y="4445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 工程职业以专业能力和公共服务为基础，承担社会信托责任。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 公众的安全、健康和福祉是专业判断的重要依据。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 发现异常后，应核验、控制风险、准确报告并完成整改复核。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926" b="2926"/>
          <a:stretch>
            <a:fillRect/>
          </a:stretch>
        </p:blipFill>
        <p:spPr>
          <a:xfrm>
            <a:off x="6858000" y="2286000"/>
            <a:ext cx="4318000" cy="2286000"/>
          </a:xfrm>
          <a:prstGeom prst="roundRect">
            <a:avLst>
              <a:gd name="adj" fmla="val 6666"/>
            </a:avLst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762000" y="1778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工程伦理 · 第5章 · 第二讲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540000"/>
            <a:ext cx="584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3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伦理冲突与科技时代责任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41275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33000"/>
              </a:lnSpc>
              <a:buNone/>
            </a:pPr>
            <a:r>
              <a:rPr sz="1800" b="1" i="0">
                <a:solidFill>
                  <a:srgbClr val="CBD5E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从AI幻觉到利益冲突，</a:t>
            </a:r>
            <a:endParaRPr sz="1800" b="1" i="0">
              <a:solidFill>
                <a:srgbClr val="CBD5E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marL="0" indent="0">
              <a:lnSpc>
                <a:spcPct val="133000"/>
              </a:lnSpc>
              <a:buNone/>
            </a:pPr>
            <a:r>
              <a:rPr sz="1800" b="1" i="0">
                <a:solidFill>
                  <a:srgbClr val="CBD5E1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理解专业判断与责任边界</a:t>
            </a:r>
            <a:endParaRPr sz="1800" b="1" i="0">
              <a:solidFill>
                <a:srgbClr val="CBD5E1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3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河南师范大学研究生课程讲授 ｜ 课堂时长：45分钟</a:t>
            </a:r>
            <a:endParaRPr sz="13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1016000" y="1016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3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第二讲 · 责任边界</a:t>
            </a:r>
            <a:endParaRPr sz="13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1016000" y="1905000"/>
            <a:ext cx="1016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17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AI生成错误信息，</a:t>
            </a:r>
            <a:endParaRPr sz="36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 marL="0" indent="0">
              <a:lnSpc>
                <a:spcPct val="117000"/>
              </a:lnSpc>
              <a:buNone/>
            </a:pPr>
            <a:r>
              <a:rPr sz="36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责任应结合具体事实判断</a:t>
            </a:r>
            <a:endParaRPr sz="36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4826000"/>
            <a:ext cx="965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技术层面：生成内容可能存在错误，应说明局限并提高可靠性。</a:t>
            </a:r>
            <a:endParaRPr sz="16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法律层面：责任认定须结合注意义务、损害及因果关系。</a:t>
            </a:r>
            <a:endParaRPr sz="16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伦理层面：工程团队仍应采取与可预见风险相称的预防措施。</a:t>
            </a:r>
            <a:endParaRPr sz="16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知识梳理 · 权利与责任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工程师的职业权利与责任视角</a:t>
            </a:r>
            <a:endParaRPr sz="26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八项职业权利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2730500"/>
            <a:ext cx="508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 使用注册职业名称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 在规定范围内从事执业活动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 对本人执业文件签字并加盖执业印章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4. 保管和使用本人注册证书、执业印章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5. 对执业活动进行解释和辩护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6. 接受继续教育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7. 获得相应劳动报酬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8. 对侵犯本人权利的行为提出申诉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6350000" y="2286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三种责任视角</a:t>
            </a:r>
            <a:endParaRPr sz="1500" b="1" i="0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6350000" y="2730500"/>
            <a:ext cx="508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8000"/>
              </a:lnSpc>
              <a:buNone/>
            </a:pPr>
            <a:r>
              <a:rPr sz="13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义务责任：</a:t>
            </a: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遵守并积极落实专业标准，预防伤害。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过失责任：</a:t>
            </a: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就疏忽或不当行为造成的伤害承担责任。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  <a:r>
              <a:rPr sz="1300" b="1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角色责任：</a:t>
            </a: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履行岗位应尽职责，就相应失职负责。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8000"/>
              </a:lnSpc>
              <a:buNone/>
            </a:pPr>
          </a:p>
          <a:p>
            <a:pPr marL="0" indent="0">
              <a:lnSpc>
                <a:spcPct val="158000"/>
              </a:lnSpc>
              <a:buNone/>
            </a:pPr>
            <a:r>
              <a:rPr sz="1300" b="0" i="1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三种视角并非递进层级，责任范围须结合岗位、权限和事实。</a:t>
            </a:r>
            <a:endParaRPr sz="1300" b="0" i="1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知识梳理 · 职业美德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工程师的三个核心职业美德</a:t>
            </a:r>
            <a:endParaRPr sz="26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2540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1651000" y="2540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诚实可靠</a:t>
            </a:r>
            <a:endParaRPr sz="1100"/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651000" y="3111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准确报告事实、数据和不确定性，不夸大、不歪曲、不隐瞒风险。</a:t>
            </a:r>
            <a:endParaRPr sz="14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适用于实验记录、模型评估、论文署名与工程验收。</a:t>
            </a:r>
            <a:endParaRPr sz="14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" y="4064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1100"/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1651000" y="4064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尽职尽责</a:t>
            </a: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1651000" y="46355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在胜任范围内提供服务，发现异常及时核查、记录并报告。</a:t>
            </a:r>
            <a:endParaRPr sz="14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持续更新知识，确保专业意见有能力与证据支持。</a:t>
            </a:r>
            <a:endParaRPr sz="14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1016000" y="5588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2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1100"/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1651000" y="5588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忠实服务</a:t>
            </a:r>
            <a:endParaRPr sz="1100"/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1651000" y="6159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诚实服务公众、雇主与客户，在公共风险面前保持独立的专业判断。</a:t>
            </a:r>
            <a:endParaRPr sz="14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知识梳理 · 伦理冲突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三种伦理冲突及其处理方向</a:t>
            </a:r>
            <a:endParaRPr sz="26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角色冲突</a:t>
            </a:r>
            <a:endParaRPr sz="1100"/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1016000" y="3175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雇员职责与专业判断不一致。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应明确岗位责任，保持专业独立，并寻求复核与专业支持。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4699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利益冲突</a:t>
            </a:r>
            <a:endParaRPr sz="1100"/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4699000" y="3175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私人利益影响评审或验收。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应拒绝或放弃不当利益，主动披露，并在必要时回避。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8382000" y="2667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责任冲突</a:t>
            </a:r>
            <a:endParaRPr sz="1100"/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8382000" y="3175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保密、进度与公众安全相互牵制。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应比较权利和风险，提出可行的替代行动方案。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762000" y="558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分析要点：三类冲突可能重叠，处理应结合具体事实、职责和证据。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伦理判断既要澄清价值，也要落实到可执行的行动。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326" b="326"/>
          <a:stretch>
            <a:fillRect/>
          </a:stretch>
        </p:blipFill>
        <p:spPr>
          <a:xfrm>
            <a:off x="6858000" y="2032000"/>
            <a:ext cx="4318000" cy="2413000"/>
          </a:xfrm>
          <a:prstGeom prst="roundRect">
            <a:avLst>
              <a:gd name="adj" fmla="val 6315"/>
            </a:avLst>
          </a:prstGeom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>
            <a:spLocks noGrp="1"/>
          </p:cNvSpPr>
          <p:nvPr/>
        </p:nvSpPr>
        <p:spPr>
          <a:xfrm>
            <a:off x="762000" y="889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案例分析 · AI 时代（一）</a:t>
            </a:r>
            <a:endParaRPr sz="1100"/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1524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32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AI幻觉引发侵权诉讼</a:t>
            </a:r>
            <a:endParaRPr sz="32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22860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3200" b="1" i="0">
                <a:solidFill>
                  <a:srgbClr val="EF444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判决与预防要求</a:t>
            </a:r>
            <a:endParaRPr sz="3200" b="1" i="0">
              <a:solidFill>
                <a:srgbClr val="EF4444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3619500"/>
            <a:ext cx="533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2025年6月，AI生成错误高校信息及10万元赔偿承诺。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用户提起侵权诉讼，实际请求赔偿9999元。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法院驳回诉讼请求，双方未上诉，判决已生效。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本案认定已尽合理注意义务，损害与因果关系未获证明。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762000" y="609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来源：人民法院报案例解读，2026年1月；右图为原课件AI示意配图</a:t>
            </a:r>
            <a:endParaRPr sz="12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工程情境 · 可持续发展</a:t>
            </a:r>
            <a:endParaRPr sz="12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可持续发展：AI算力项目的选址审查</a:t>
            </a:r>
            <a:endParaRPr sz="24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示例情境（假设）</a:t>
            </a:r>
            <a:endParaRPr sz="15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某地拟引入数据中心，增加投资与就业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项目同时增加用电、用水和基础设施需求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居民关注资源分配与生活环境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不同选址和技术方案的影响需要评估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6350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审查与改进方向</a:t>
            </a:r>
            <a:endParaRPr sz="1500" b="1" i="0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6350000" y="2794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评估全生命周期的能耗、水耗和环境影响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分析收益与成本在不同群体间的分配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兼顾长期影响和后代利益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比较选址、节能、监测及补偿方案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62000" y="5651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3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讲解结论：不能仅以短期收益或单一环境指标决定方案，应比较长期影响与替代方案。</a:t>
            </a:r>
            <a:endParaRPr sz="13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3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教材依据：5.3.1可持续发展；本页不指向具体项目。</a:t>
            </a:r>
            <a:endParaRPr sz="13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原则讲解 · 忠诚与举报</a:t>
            </a:r>
            <a:endParaRPr sz="12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忠诚与举报：必要的报告与升级</a:t>
            </a:r>
            <a:endParaRPr sz="24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349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示例情境（假设）：测试发现重大安全隐患，内部报告后被要求先上线、暂缓记录。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5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职业忠诚要求诚实服务；发现公共风险时，应以证据为基础采取必要行动。</a:t>
            </a:r>
            <a:endParaRPr sz="15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368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忠诚与保密的边界</a:t>
            </a:r>
            <a:endParaRPr sz="15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762000" y="41275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如实记录问题，核实影响范围和风险紧迫程度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保护商业秘密，避免无关信息扩散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不能以保密或进度要求阻止必要的风险处置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6350000" y="368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报告与升级的顺序</a:t>
            </a:r>
            <a:endParaRPr sz="1500" b="1" i="0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6350000" y="41275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通常先通过内部渠道报告，寻求复核和专业意见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内部处置无效或危险紧迫时，及时选择适当升级渠道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围绕必要风险信息报告，保留证据并跟踪处理结果</a:t>
            </a:r>
            <a:endParaRPr sz="1300" b="0" i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762000" y="5905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教材依据：5.3.1忠诚与举报；紧急危险不应等待常规程序耗尽。</a:t>
            </a:r>
            <a:endParaRPr sz="12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200" b="0" i="0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案例分析 · 利益冲突</a:t>
            </a:r>
            <a:endParaRPr sz="1200" b="0" i="0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4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利益冲突与监理的独立判断</a:t>
            </a:r>
            <a:endParaRPr sz="24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762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案例事实与伦理风险</a:t>
            </a:r>
            <a:endParaRPr sz="15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762000" y="2794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永安项目通报确认部分监理人员接受施工企业宴请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私人利益可能影响验收、评审及风险报告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存在利益冲突，不等于已证明每项判断受到影响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仍需采取处置，维护判断的独立性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63500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处理方法</a:t>
            </a:r>
            <a:endParaRPr sz="1500" b="1" i="0">
              <a:solidFill>
                <a:srgbClr val="EF4444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6350000" y="2794000"/>
            <a:ext cx="5080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拒绝或放弃可能影响判断的不当利益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主动披露利益关系，必要时不参与或退出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由无相关利益的人员进行独立复核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165100" indent="-165100">
              <a:lnSpc>
                <a:spcPct val="150000"/>
              </a:lnSpc>
              <a:buClrTx/>
              <a:buChar char="•"/>
            </a:pPr>
            <a:r>
              <a:rPr sz="1300" b="0" i="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记录判断依据，并落实后续整改</a:t>
            </a:r>
            <a:endParaRPr sz="1300" b="0" i="0">
              <a:solidFill>
                <a:srgbClr val="2B2B2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分析结论：自认为客观不能代替利益披露与回避，专业独立需要程序保障。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42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事实依据：永安项目2026年1月通报；处理框架：教材第125页。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762000" y="63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方法工具 · 伦理决策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762000" y="1079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0D132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伦理决策的四项审查与替代方案</a:t>
            </a:r>
            <a:endParaRPr sz="2600" b="1" i="0">
              <a:solidFill>
                <a:srgbClr val="0D132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2540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sz="22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1651000" y="2540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个人利益：澄清自身利益及潜在冲突，避免利益掩盖专业判断。</a:t>
            </a:r>
            <a:endParaRPr sz="1600" b="0" i="0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016000" y="33655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sz="22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651000" y="33655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社会影响：分析不同群体的收益与风险，兼顾短期和长期后果。</a:t>
            </a:r>
            <a:endParaRPr sz="1600" b="0" i="0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>
            <a:spLocks noGrp="1"/>
          </p:cNvSpPr>
          <p:nvPr/>
        </p:nvSpPr>
        <p:spPr>
          <a:xfrm>
            <a:off x="1016000" y="4191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sz="22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>
            <a:spLocks noGrp="1"/>
          </p:cNvSpPr>
          <p:nvPr/>
        </p:nvSpPr>
        <p:spPr>
          <a:xfrm>
            <a:off x="1651000" y="41910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公平与权利：审查分配是否公平，判断是否侵害相关主体的权利。</a:t>
            </a:r>
            <a:endParaRPr sz="1600" b="0" i="0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>
            <a:spLocks noGrp="1"/>
          </p:cNvSpPr>
          <p:nvPr/>
        </p:nvSpPr>
        <p:spPr>
          <a:xfrm>
            <a:off x="1016000" y="50165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2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sz="22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AutoShape 11"/>
          <p:cNvSpPr>
            <a:spLocks noGrp="1"/>
          </p:cNvSpPr>
          <p:nvPr/>
        </p:nvSpPr>
        <p:spPr>
          <a:xfrm>
            <a:off x="1651000" y="50165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0" i="0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承诺与职责：辨明合同、保密及专业义务，说明发生冲突时的理由。</a:t>
            </a:r>
            <a:endParaRPr sz="1600" b="0" i="0">
              <a:solidFill>
                <a:srgbClr val="0D13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>
            <a:spLocks noGrp="1"/>
          </p:cNvSpPr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0" i="1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审查之后比较至少两种可行方案，明确证据、行动次序和复核条件。</a:t>
            </a:r>
            <a:endParaRPr sz="1400" b="0" i="1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Shape 2"/>
          <p:cNvSpPr>
            <a:spLocks noGrp="1"/>
          </p:cNvSpPr>
          <p:nvPr/>
        </p:nvSpPr>
        <p:spPr>
          <a:xfrm>
            <a:off x="1016000" y="76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第二讲 · 小结</a:t>
            </a:r>
            <a:endParaRPr sz="1100"/>
          </a:p>
        </p:txBody>
      </p:sp>
      <p:sp>
        <p:nvSpPr>
          <p:cNvPr id="3" name="AutoShape 3"/>
          <p:cNvSpPr>
            <a:spLocks noGrp="1"/>
          </p:cNvSpPr>
          <p:nvPr/>
        </p:nvSpPr>
        <p:spPr>
          <a:xfrm>
            <a:off x="1016000" y="1397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2600" b="1" i="0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第二讲小结：证据、职责与独立判断</a:t>
            </a:r>
            <a:endParaRPr sz="2600" b="1" i="0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4" name="AutoShape 4"/>
          <p:cNvSpPr>
            <a:spLocks noGrp="1"/>
          </p:cNvSpPr>
          <p:nvPr/>
        </p:nvSpPr>
        <p:spPr>
          <a:xfrm>
            <a:off x="1016000" y="266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责任边界取决于可预见风险、具体职责、权限与合理措施。</a:t>
            </a:r>
            <a:endParaRPr sz="1600" b="0" i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b="0" i="0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从桥梁到AI，技术形态变化，专业判断的公共责任持续存在。</a:t>
            </a:r>
            <a:endParaRPr sz="1600" b="0" i="0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AutoShape 5"/>
          <p:cNvSpPr>
            <a:spLocks noGrp="1"/>
          </p:cNvSpPr>
          <p:nvPr/>
        </p:nvSpPr>
        <p:spPr>
          <a:xfrm>
            <a:off x="1016000" y="3492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600" b="1" i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公众的安全、健康和福祉，始终是重要的职业伦理依据。</a:t>
            </a:r>
            <a:endParaRPr sz="1600" b="1" i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>
            <a:spLocks noGrp="1"/>
          </p:cNvSpPr>
          <p:nvPr/>
        </p:nvSpPr>
        <p:spPr>
          <a:xfrm>
            <a:off x="1016000" y="4318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500" b="1" i="0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本讲的三个要点</a:t>
            </a:r>
            <a:endParaRPr sz="1500" b="1" i="0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AutoShape 7"/>
          <p:cNvSpPr>
            <a:spLocks noGrp="1"/>
          </p:cNvSpPr>
          <p:nvPr/>
        </p:nvSpPr>
        <p:spPr>
          <a:xfrm>
            <a:off x="1016000" y="48260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anchor="ctr"/>
          <a:lstStyle/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1. 伦理冲突应结合事实与职责，比较可行的替代方案。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2. 诚实报告、利益披露和适当升级，支持独立履职。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lnSpc>
                <a:spcPct val="167000"/>
              </a:lnSpc>
              <a:buNone/>
            </a:pPr>
            <a:r>
              <a:rPr sz="1400" b="0" i="0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3. 工程师与组织共同落实风险预防，并持续改进专业实践。</a:t>
            </a:r>
            <a:endParaRPr sz="1400" b="0" i="0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9629" y="211180"/>
            <a:ext cx="701591" cy="70159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NDhjMzMyMDQ3ZGFkYmZhNDZlYThlMzhiYzVkYzFlZW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4045</Words>
  <Application>WPS 演示</Application>
  <PresentationFormat>Converted Presentation</PresentationFormat>
  <Paragraphs>401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Noto Serif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WPS_1776049930</cp:lastModifiedBy>
  <cp:revision>1</cp:revision>
  <dcterms:created xsi:type="dcterms:W3CDTF">2026-10-14T04:14:41Z</dcterms:created>
  <dcterms:modified xsi:type="dcterms:W3CDTF">2026-10-14T04:14:41Z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C0D88BEBB23E44CDAA6AB409DB48F78A_12</vt:lpwstr>
  </property>
  <property fmtid="{D5CDD505-2E9C-101B-9397-08002B2CF9AE}" pid="3" name="KSOProductBuildVer">
    <vt:lpwstr>2052-12.1.0.15374</vt:lpwstr>
  </property>
</Properties>
</file>